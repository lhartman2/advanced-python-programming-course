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13"/>
    <p:sldId id="263" r:id="rId14"/>
    <p:sldId id="270" r:id="rId15"/>
    <p:sldId id="265" r:id="rId16"/>
    <p:sldId id="266" r:id="rId17"/>
    <p:sldId id="267" r:id="rId18"/>
    <p:sldId id="271" r:id="rId19"/>
    <p:sldId id="272" r:id="rId20"/>
    <p:sldId id="268" r:id="rId21"/>
    <p:sldId id="269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8D184-5A3E-4841-98A5-69C3B10FAEF3}" v="6" dt="2025-11-07T14:21:23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70338" autoAdjust="0"/>
  </p:normalViewPr>
  <p:slideViewPr>
    <p:cSldViewPr snapToGrid="0">
      <p:cViewPr varScale="1">
        <p:scale>
          <a:sx n="59" d="100"/>
          <a:sy n="59" d="100"/>
        </p:scale>
        <p:origin x="2472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modSld sldOrd">
      <pc:chgData name="Hartman, Lucas" userId="54df504d-6b26-4972-93dd-c21e09d4490b" providerId="ADAL" clId="{DA797BB2-F189-4808-BF03-EC6D040664BC}" dt="2025-11-10T15:54:21.949" v="15461" actId="20577"/>
      <pc:docMkLst>
        <pc:docMk/>
      </pc:docMkLst>
      <pc:sldChg chg="modSp mod">
        <pc:chgData name="Hartman, Lucas" userId="54df504d-6b26-4972-93dd-c21e09d4490b" providerId="ADAL" clId="{DA797BB2-F189-4808-BF03-EC6D040664BC}" dt="2025-11-04T20:58:45.572" v="12815" actId="20577"/>
        <pc:sldMkLst>
          <pc:docMk/>
          <pc:sldMk cId="1462876119" sldId="258"/>
        </pc:sldMkLst>
        <pc:spChg chg="mod">
          <ac:chgData name="Hartman, Lucas" userId="54df504d-6b26-4972-93dd-c21e09d4490b" providerId="ADAL" clId="{DA797BB2-F189-4808-BF03-EC6D040664BC}" dt="2025-11-04T20:07:40.092" v="12763" actId="5793"/>
          <ac:spMkLst>
            <pc:docMk/>
            <pc:sldMk cId="1462876119" sldId="258"/>
            <ac:spMk id="3" creationId="{50593C5D-6A92-2AF8-A713-65B99946790A}"/>
          </ac:spMkLst>
        </pc:spChg>
        <pc:spChg chg="mod">
          <ac:chgData name="Hartman, Lucas" userId="54df504d-6b26-4972-93dd-c21e09d4490b" providerId="ADAL" clId="{DA797BB2-F189-4808-BF03-EC6D040664BC}" dt="2025-11-04T20:58:45.572" v="12815" actId="20577"/>
          <ac:spMkLst>
            <pc:docMk/>
            <pc:sldMk cId="1462876119" sldId="258"/>
            <ac:spMk id="4" creationId="{F21E2770-DD21-4AE2-9A6B-B0E4E0E8251E}"/>
          </ac:spMkLst>
        </pc:spChg>
      </pc:sldChg>
      <pc:sldChg chg="modSp mod">
        <pc:chgData name="Hartman, Lucas" userId="54df504d-6b26-4972-93dd-c21e09d4490b" providerId="ADAL" clId="{DA797BB2-F189-4808-BF03-EC6D040664BC}" dt="2025-11-04T20:07:59.477" v="12775" actId="20577"/>
        <pc:sldMkLst>
          <pc:docMk/>
          <pc:sldMk cId="454564037" sldId="259"/>
        </pc:sldMkLst>
        <pc:spChg chg="mod">
          <ac:chgData name="Hartman, Lucas" userId="54df504d-6b26-4972-93dd-c21e09d4490b" providerId="ADAL" clId="{DA797BB2-F189-4808-BF03-EC6D040664BC}" dt="2025-11-04T20:07:59.477" v="12775" actId="20577"/>
          <ac:spMkLst>
            <pc:docMk/>
            <pc:sldMk cId="454564037" sldId="259"/>
            <ac:spMk id="4" creationId="{AC3DB1BB-9821-06F9-B76D-23FC5057BA05}"/>
          </ac:spMkLst>
        </pc:spChg>
      </pc:sldChg>
      <pc:sldChg chg="modSp mod">
        <pc:chgData name="Hartman, Lucas" userId="54df504d-6b26-4972-93dd-c21e09d4490b" providerId="ADAL" clId="{DA797BB2-F189-4808-BF03-EC6D040664BC}" dt="2025-11-04T20:59:20.851" v="12821" actId="108"/>
        <pc:sldMkLst>
          <pc:docMk/>
          <pc:sldMk cId="3666064157" sldId="260"/>
        </pc:sldMkLst>
        <pc:spChg chg="mod">
          <ac:chgData name="Hartman, Lucas" userId="54df504d-6b26-4972-93dd-c21e09d4490b" providerId="ADAL" clId="{DA797BB2-F189-4808-BF03-EC6D040664BC}" dt="2025-11-04T20:59:20.851" v="12821" actId="108"/>
          <ac:spMkLst>
            <pc:docMk/>
            <pc:sldMk cId="3666064157" sldId="260"/>
            <ac:spMk id="4" creationId="{E692D965-2A0E-235D-F1A6-BBEE0EEDCBBD}"/>
          </ac:spMkLst>
        </pc:spChg>
      </pc:sldChg>
      <pc:sldChg chg="modSp mod">
        <pc:chgData name="Hartman, Lucas" userId="54df504d-6b26-4972-93dd-c21e09d4490b" providerId="ADAL" clId="{DA797BB2-F189-4808-BF03-EC6D040664BC}" dt="2025-11-04T20:08:19.431" v="12784" actId="20577"/>
        <pc:sldMkLst>
          <pc:docMk/>
          <pc:sldMk cId="1364477003" sldId="261"/>
        </pc:sldMkLst>
        <pc:spChg chg="mod">
          <ac:chgData name="Hartman, Lucas" userId="54df504d-6b26-4972-93dd-c21e09d4490b" providerId="ADAL" clId="{DA797BB2-F189-4808-BF03-EC6D040664BC}" dt="2025-11-04T20:08:19.431" v="12784" actId="20577"/>
          <ac:spMkLst>
            <pc:docMk/>
            <pc:sldMk cId="1364477003" sldId="261"/>
            <ac:spMk id="4" creationId="{0F218805-1363-1B8F-A277-77D3A28527E7}"/>
          </ac:spMkLst>
        </pc:spChg>
      </pc:sldChg>
      <pc:sldChg chg="modSp mod">
        <pc:chgData name="Hartman, Lucas" userId="54df504d-6b26-4972-93dd-c21e09d4490b" providerId="ADAL" clId="{DA797BB2-F189-4808-BF03-EC6D040664BC}" dt="2025-11-04T20:08:37.967" v="12790" actId="20577"/>
        <pc:sldMkLst>
          <pc:docMk/>
          <pc:sldMk cId="2760821280" sldId="263"/>
        </pc:sldMkLst>
        <pc:spChg chg="mod">
          <ac:chgData name="Hartman, Lucas" userId="54df504d-6b26-4972-93dd-c21e09d4490b" providerId="ADAL" clId="{DA797BB2-F189-4808-BF03-EC6D040664BC}" dt="2025-11-04T20:08:37.967" v="12790" actId="20577"/>
          <ac:spMkLst>
            <pc:docMk/>
            <pc:sldMk cId="2760821280" sldId="263"/>
            <ac:spMk id="4" creationId="{7762E0D6-5734-C982-586A-146D4C45DBD1}"/>
          </ac:spMkLst>
        </pc:spChg>
      </pc:sldChg>
      <pc:sldChg chg="modSp mod">
        <pc:chgData name="Hartman, Lucas" userId="54df504d-6b26-4972-93dd-c21e09d4490b" providerId="ADAL" clId="{DA797BB2-F189-4808-BF03-EC6D040664BC}" dt="2025-11-04T20:08:57.640" v="12796" actId="20577"/>
        <pc:sldMkLst>
          <pc:docMk/>
          <pc:sldMk cId="2196144523" sldId="265"/>
        </pc:sldMkLst>
        <pc:spChg chg="mod">
          <ac:chgData name="Hartman, Lucas" userId="54df504d-6b26-4972-93dd-c21e09d4490b" providerId="ADAL" clId="{DA797BB2-F189-4808-BF03-EC6D040664BC}" dt="2025-11-04T19:52:11.693" v="12619" actId="20577"/>
          <ac:spMkLst>
            <pc:docMk/>
            <pc:sldMk cId="2196144523" sldId="265"/>
            <ac:spMk id="3" creationId="{23048003-E4FF-CBBA-7D82-5A662F904ACC}"/>
          </ac:spMkLst>
        </pc:spChg>
        <pc:spChg chg="mod">
          <ac:chgData name="Hartman, Lucas" userId="54df504d-6b26-4972-93dd-c21e09d4490b" providerId="ADAL" clId="{DA797BB2-F189-4808-BF03-EC6D040664BC}" dt="2025-11-04T20:08:57.640" v="12796" actId="20577"/>
          <ac:spMkLst>
            <pc:docMk/>
            <pc:sldMk cId="2196144523" sldId="265"/>
            <ac:spMk id="4" creationId="{A1F99F68-D06F-57E7-6A33-541C0618B277}"/>
          </ac:spMkLst>
        </pc:spChg>
      </pc:sldChg>
      <pc:sldChg chg="modSp mod">
        <pc:chgData name="Hartman, Lucas" userId="54df504d-6b26-4972-93dd-c21e09d4490b" providerId="ADAL" clId="{DA797BB2-F189-4808-BF03-EC6D040664BC}" dt="2025-11-04T19:52:51.328" v="12675" actId="20577"/>
        <pc:sldMkLst>
          <pc:docMk/>
          <pc:sldMk cId="3699263559" sldId="266"/>
        </pc:sldMkLst>
        <pc:spChg chg="mod">
          <ac:chgData name="Hartman, Lucas" userId="54df504d-6b26-4972-93dd-c21e09d4490b" providerId="ADAL" clId="{DA797BB2-F189-4808-BF03-EC6D040664BC}" dt="2025-11-04T19:52:51.328" v="12675" actId="20577"/>
          <ac:spMkLst>
            <pc:docMk/>
            <pc:sldMk cId="3699263559" sldId="266"/>
            <ac:spMk id="3" creationId="{1F1F4688-AB18-46C6-3ABB-E3B0D77D37D9}"/>
          </ac:spMkLst>
        </pc:spChg>
      </pc:sldChg>
      <pc:sldChg chg="ord">
        <pc:chgData name="Hartman, Lucas" userId="54df504d-6b26-4972-93dd-c21e09d4490b" providerId="ADAL" clId="{DA797BB2-F189-4808-BF03-EC6D040664BC}" dt="2025-11-05T20:06:31.388" v="12823"/>
        <pc:sldMkLst>
          <pc:docMk/>
          <pc:sldMk cId="628081966" sldId="267"/>
        </pc:sldMkLst>
      </pc:sldChg>
      <pc:sldChg chg="modSp mod">
        <pc:chgData name="Hartman, Lucas" userId="54df504d-6b26-4972-93dd-c21e09d4490b" providerId="ADAL" clId="{DA797BB2-F189-4808-BF03-EC6D040664BC}" dt="2025-11-04T19:53:46.736" v="12732" actId="20577"/>
        <pc:sldMkLst>
          <pc:docMk/>
          <pc:sldMk cId="1368804028" sldId="269"/>
        </pc:sldMkLst>
        <pc:spChg chg="mod">
          <ac:chgData name="Hartman, Lucas" userId="54df504d-6b26-4972-93dd-c21e09d4490b" providerId="ADAL" clId="{DA797BB2-F189-4808-BF03-EC6D040664BC}" dt="2025-11-04T19:53:46.736" v="12732" actId="20577"/>
          <ac:spMkLst>
            <pc:docMk/>
            <pc:sldMk cId="1368804028" sldId="269"/>
            <ac:spMk id="3" creationId="{3332F28D-405B-7574-80A6-5E91B122B8F2}"/>
          </ac:spMkLst>
        </pc:spChg>
      </pc:sldChg>
      <pc:sldChg chg="addSp modSp add mod modClrScheme chgLayout">
        <pc:chgData name="Hartman, Lucas" userId="54df504d-6b26-4972-93dd-c21e09d4490b" providerId="ADAL" clId="{DA797BB2-F189-4808-BF03-EC6D040664BC}" dt="2025-11-03T22:21:07.709" v="12594" actId="20577"/>
        <pc:sldMkLst>
          <pc:docMk/>
          <pc:sldMk cId="2933692548" sldId="270"/>
        </pc:sldMkLst>
        <pc:spChg chg="mod ord">
          <ac:chgData name="Hartman, Lucas" userId="54df504d-6b26-4972-93dd-c21e09d4490b" providerId="ADAL" clId="{DA797BB2-F189-4808-BF03-EC6D040664BC}" dt="2025-11-03T22:21:07.709" v="12594" actId="20577"/>
          <ac:spMkLst>
            <pc:docMk/>
            <pc:sldMk cId="2933692548" sldId="270"/>
            <ac:spMk id="2" creationId="{0D6F39AD-A4DA-79DC-65B8-F7DA03CADC4F}"/>
          </ac:spMkLst>
        </pc:spChg>
      </pc:sldChg>
      <pc:sldChg chg="modSp mod">
        <pc:chgData name="Hartman, Lucas" userId="54df504d-6b26-4972-93dd-c21e09d4490b" providerId="ADAL" clId="{DA797BB2-F189-4808-BF03-EC6D040664BC}" dt="2025-11-04T20:09:24.770" v="12814" actId="20577"/>
        <pc:sldMkLst>
          <pc:docMk/>
          <pc:sldMk cId="365952095" sldId="271"/>
        </pc:sldMkLst>
        <pc:spChg chg="mod">
          <ac:chgData name="Hartman, Lucas" userId="54df504d-6b26-4972-93dd-c21e09d4490b" providerId="ADAL" clId="{DA797BB2-F189-4808-BF03-EC6D040664BC}" dt="2025-11-04T20:09:24.770" v="12814" actId="20577"/>
          <ac:spMkLst>
            <pc:docMk/>
            <pc:sldMk cId="365952095" sldId="271"/>
            <ac:spMk id="4" creationId="{30FBA6D7-512B-ABEE-2777-56A402067A4C}"/>
          </ac:spMkLst>
        </pc:spChg>
      </pc:sldChg>
      <pc:sldChg chg="modSp new mod">
        <pc:chgData name="Hartman, Lucas" userId="54df504d-6b26-4972-93dd-c21e09d4490b" providerId="ADAL" clId="{DA797BB2-F189-4808-BF03-EC6D040664BC}" dt="2025-11-07T13:55:17.057" v="12852" actId="20577"/>
        <pc:sldMkLst>
          <pc:docMk/>
          <pc:sldMk cId="3134516436" sldId="273"/>
        </pc:sldMkLst>
        <pc:spChg chg="mod">
          <ac:chgData name="Hartman, Lucas" userId="54df504d-6b26-4972-93dd-c21e09d4490b" providerId="ADAL" clId="{DA797BB2-F189-4808-BF03-EC6D040664BC}" dt="2025-11-07T13:55:01.635" v="12843" actId="20577"/>
          <ac:spMkLst>
            <pc:docMk/>
            <pc:sldMk cId="3134516436" sldId="273"/>
            <ac:spMk id="2" creationId="{9656F59A-B774-3431-175B-5F859A18E363}"/>
          </ac:spMkLst>
        </pc:spChg>
        <pc:spChg chg="mod">
          <ac:chgData name="Hartman, Lucas" userId="54df504d-6b26-4972-93dd-c21e09d4490b" providerId="ADAL" clId="{DA797BB2-F189-4808-BF03-EC6D040664BC}" dt="2025-11-07T13:55:17.057" v="12852" actId="20577"/>
          <ac:spMkLst>
            <pc:docMk/>
            <pc:sldMk cId="3134516436" sldId="273"/>
            <ac:spMk id="3" creationId="{1AA7A61D-1940-7F65-89CA-427F6FB75919}"/>
          </ac:spMkLst>
        </pc:spChg>
      </pc:sldChg>
      <pc:sldChg chg="addSp modSp new mod">
        <pc:chgData name="Hartman, Lucas" userId="54df504d-6b26-4972-93dd-c21e09d4490b" providerId="ADAL" clId="{DA797BB2-F189-4808-BF03-EC6D040664BC}" dt="2025-11-07T14:16:36.154" v="13572" actId="20577"/>
        <pc:sldMkLst>
          <pc:docMk/>
          <pc:sldMk cId="3110065892" sldId="274"/>
        </pc:sldMkLst>
        <pc:spChg chg="mod">
          <ac:chgData name="Hartman, Lucas" userId="54df504d-6b26-4972-93dd-c21e09d4490b" providerId="ADAL" clId="{DA797BB2-F189-4808-BF03-EC6D040664BC}" dt="2025-11-07T14:13:20.650" v="12896" actId="20577"/>
          <ac:spMkLst>
            <pc:docMk/>
            <pc:sldMk cId="3110065892" sldId="274"/>
            <ac:spMk id="2" creationId="{5A47447E-1DDD-0C2B-D8E8-D05CB5F49F52}"/>
          </ac:spMkLst>
        </pc:spChg>
        <pc:spChg chg="mod">
          <ac:chgData name="Hartman, Lucas" userId="54df504d-6b26-4972-93dd-c21e09d4490b" providerId="ADAL" clId="{DA797BB2-F189-4808-BF03-EC6D040664BC}" dt="2025-11-07T14:16:36.154" v="13572" actId="20577"/>
          <ac:spMkLst>
            <pc:docMk/>
            <pc:sldMk cId="3110065892" sldId="274"/>
            <ac:spMk id="3" creationId="{49559F9E-57A3-8699-2DE2-5B618F2E20D0}"/>
          </ac:spMkLst>
        </pc:spChg>
        <pc:picChg chg="add mod">
          <ac:chgData name="Hartman, Lucas" userId="54df504d-6b26-4972-93dd-c21e09d4490b" providerId="ADAL" clId="{DA797BB2-F189-4808-BF03-EC6D040664BC}" dt="2025-11-07T14:15:05.199" v="13301" actId="962"/>
          <ac:picMkLst>
            <pc:docMk/>
            <pc:sldMk cId="3110065892" sldId="274"/>
            <ac:picMk id="1026" creationId="{1688B694-254E-3B83-033C-C17452CC5DA7}"/>
          </ac:picMkLst>
        </pc:picChg>
      </pc:sldChg>
      <pc:sldChg chg="modSp new mod modNotesTx">
        <pc:chgData name="Hartman, Lucas" userId="54df504d-6b26-4972-93dd-c21e09d4490b" providerId="ADAL" clId="{DA797BB2-F189-4808-BF03-EC6D040664BC}" dt="2025-11-10T15:54:21.949" v="15461" actId="20577"/>
        <pc:sldMkLst>
          <pc:docMk/>
          <pc:sldMk cId="3330013369" sldId="275"/>
        </pc:sldMkLst>
        <pc:spChg chg="mod">
          <ac:chgData name="Hartman, Lucas" userId="54df504d-6b26-4972-93dd-c21e09d4490b" providerId="ADAL" clId="{DA797BB2-F189-4808-BF03-EC6D040664BC}" dt="2025-11-07T14:16:45.191" v="13602" actId="20577"/>
          <ac:spMkLst>
            <pc:docMk/>
            <pc:sldMk cId="3330013369" sldId="275"/>
            <ac:spMk id="2" creationId="{02E852A8-2364-3B55-A63E-827AF7F0ABD6}"/>
          </ac:spMkLst>
        </pc:spChg>
        <pc:spChg chg="mod">
          <ac:chgData name="Hartman, Lucas" userId="54df504d-6b26-4972-93dd-c21e09d4490b" providerId="ADAL" clId="{DA797BB2-F189-4808-BF03-EC6D040664BC}" dt="2025-11-07T14:21:38.683" v="14087" actId="20577"/>
          <ac:spMkLst>
            <pc:docMk/>
            <pc:sldMk cId="3330013369" sldId="275"/>
            <ac:spMk id="3" creationId="{DA245457-E9E1-45BD-0166-F3C72FBBB3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1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6 – inside </a:t>
            </a:r>
            <a:r>
              <a:rPr lang="en-US" dirty="0" err="1"/>
              <a:t>view_list</a:t>
            </a:r>
            <a:r>
              <a:rPr lang="en-US" dirty="0"/>
              <a:t> – step through checking list length</a:t>
            </a:r>
          </a:p>
          <a:p>
            <a:r>
              <a:rPr lang="en-US" dirty="0"/>
              <a:t>line16 – start of the input loop in </a:t>
            </a:r>
            <a:r>
              <a:rPr lang="en-US" dirty="0" err="1"/>
              <a:t>get_item_input</a:t>
            </a:r>
            <a:r>
              <a:rPr lang="en-US" dirty="0"/>
              <a:t>()</a:t>
            </a:r>
          </a:p>
          <a:p>
            <a:r>
              <a:rPr lang="en-US" dirty="0"/>
              <a:t>line 24 – start of </a:t>
            </a:r>
            <a:r>
              <a:rPr lang="en-US" dirty="0" err="1"/>
              <a:t>add_item</a:t>
            </a:r>
            <a:endParaRPr lang="en-US" dirty="0"/>
          </a:p>
          <a:p>
            <a:r>
              <a:rPr lang="en-US" dirty="0"/>
              <a:t>line 32 – start of grocery list create – check the clearing of the list</a:t>
            </a:r>
          </a:p>
          <a:p>
            <a:r>
              <a:rPr lang="en-US" dirty="0"/>
              <a:t>line 39 – inside shop list loop</a:t>
            </a:r>
          </a:p>
          <a:p>
            <a:r>
              <a:rPr lang="en-US" dirty="0"/>
              <a:t>line 50 – start of main</a:t>
            </a:r>
          </a:p>
          <a:p>
            <a:r>
              <a:rPr lang="en-US" dirty="0"/>
              <a:t>line 64 – inside each </a:t>
            </a:r>
            <a:r>
              <a:rPr lang="en-US"/>
              <a:t>menu branch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Python </a:t>
            </a: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1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3C46-3226-42D6-6EA6-AE9580A2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452F-5D02-AD38-2A5D-70C9B5DE0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360298"/>
            <a:ext cx="4843272" cy="452792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Output is any form of displaying information</a:t>
            </a:r>
          </a:p>
          <a:p>
            <a:pPr lvl="1"/>
            <a:r>
              <a:rPr lang="en-US" dirty="0"/>
              <a:t>On a screen using the print()</a:t>
            </a:r>
          </a:p>
          <a:p>
            <a:pPr lvl="1"/>
            <a:r>
              <a:rPr lang="en-US" dirty="0"/>
              <a:t>In a text file</a:t>
            </a:r>
          </a:p>
          <a:p>
            <a:pPr lvl="1"/>
            <a:r>
              <a:rPr lang="en-US" dirty="0"/>
              <a:t>On a piece of paper from a printer</a:t>
            </a:r>
          </a:p>
          <a:p>
            <a:r>
              <a:rPr lang="en-US" dirty="0"/>
              <a:t>For printing to the console, we use the </a:t>
            </a:r>
            <a:r>
              <a:rPr lang="en-US" b="1" dirty="0"/>
              <a:t>print() </a:t>
            </a:r>
            <a:r>
              <a:rPr lang="en-US" dirty="0"/>
              <a:t>function</a:t>
            </a:r>
          </a:p>
          <a:p>
            <a:r>
              <a:rPr lang="en-US" b="1" dirty="0"/>
              <a:t>print() </a:t>
            </a:r>
            <a:r>
              <a:rPr lang="en-US" dirty="0"/>
              <a:t>function has some adjustability</a:t>
            </a:r>
          </a:p>
          <a:p>
            <a:pPr lvl="1"/>
            <a:r>
              <a:rPr lang="en-US" dirty="0"/>
              <a:t>define the ‘</a:t>
            </a:r>
            <a:r>
              <a:rPr lang="en-US" b="1" dirty="0" err="1"/>
              <a:t>sep</a:t>
            </a:r>
            <a:r>
              <a:rPr lang="en-US" dirty="0"/>
              <a:t>’ property for what character to print when a comma is used – default is a space</a:t>
            </a:r>
          </a:p>
          <a:p>
            <a:pPr lvl="1"/>
            <a:r>
              <a:rPr lang="en-US" dirty="0"/>
              <a:t>define the ‘</a:t>
            </a:r>
            <a:r>
              <a:rPr lang="en-US" b="1" dirty="0"/>
              <a:t>end</a:t>
            </a:r>
            <a:r>
              <a:rPr lang="en-US" dirty="0"/>
              <a:t>’ property for what character to print after everything – default is a new line ‘\n’</a:t>
            </a:r>
          </a:p>
          <a:p>
            <a:r>
              <a:rPr lang="en-US" dirty="0"/>
              <a:t>Escape Sequences</a:t>
            </a:r>
          </a:p>
          <a:p>
            <a:pPr lvl="1"/>
            <a:r>
              <a:rPr lang="en-US" dirty="0"/>
              <a:t>Insert these into any string to modify text</a:t>
            </a:r>
          </a:p>
          <a:p>
            <a:pPr lvl="1"/>
            <a:r>
              <a:rPr lang="en-US" b="1" dirty="0"/>
              <a:t>\n </a:t>
            </a:r>
            <a:r>
              <a:rPr lang="en-US" dirty="0"/>
              <a:t>– new line</a:t>
            </a:r>
          </a:p>
          <a:p>
            <a:pPr lvl="1"/>
            <a:r>
              <a:rPr lang="en-US" b="1" dirty="0"/>
              <a:t>\t </a:t>
            </a:r>
            <a:r>
              <a:rPr lang="en-US" dirty="0"/>
              <a:t>– tab</a:t>
            </a:r>
          </a:p>
          <a:p>
            <a:pPr lvl="1"/>
            <a:r>
              <a:rPr lang="en-US" b="1" dirty="0"/>
              <a:t>\”</a:t>
            </a:r>
            <a:r>
              <a:rPr lang="en-US" dirty="0"/>
              <a:t> – print a double quote</a:t>
            </a:r>
          </a:p>
          <a:p>
            <a:pPr lvl="1"/>
            <a:r>
              <a:rPr lang="en-US" b="1" dirty="0"/>
              <a:t>\’</a:t>
            </a:r>
            <a:r>
              <a:rPr lang="en-US" dirty="0"/>
              <a:t> – print a single quote</a:t>
            </a:r>
          </a:p>
          <a:p>
            <a:pPr lvl="1"/>
            <a:r>
              <a:rPr lang="en-US" b="1" dirty="0"/>
              <a:t>\\</a:t>
            </a:r>
            <a:r>
              <a:rPr lang="en-US" dirty="0"/>
              <a:t> - print the backslash itself – like windows file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BDECC-B3DF-D2B1-08D0-81AAC754EB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"This is text to the screen"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"some text"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"with separator"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sep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"--"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"More text 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=""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"Not on a new line"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"Tabs",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end=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"\t"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"Between prints"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 descr="Output of the print() code. '--' between second line. two prints going on one line with modified end.  a tab between the two prints for the last line.">
            <a:extLst>
              <a:ext uri="{FF2B5EF4-FFF2-40B4-BE49-F238E27FC236}">
                <a16:creationId xmlns:a16="http://schemas.microsoft.com/office/drawing/2014/main" id="{43FF3442-BE34-3E37-D930-8599735F0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715" y="4615318"/>
            <a:ext cx="3441917" cy="164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5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43AF-7D53-314B-8B1C-B35ED532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93C5D-6A92-2AF8-A713-65B999467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4917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Variables are named spaces to store data</a:t>
            </a:r>
          </a:p>
          <a:p>
            <a:r>
              <a:rPr lang="en-US" dirty="0"/>
              <a:t>To create a variable, you simply type the name you want to use for the variable</a:t>
            </a:r>
          </a:p>
          <a:p>
            <a:r>
              <a:rPr lang="en-US" dirty="0"/>
              <a:t>Use the assignment operator ‘</a:t>
            </a:r>
            <a:r>
              <a:rPr lang="en-US" b="1" dirty="0"/>
              <a:t>=</a:t>
            </a:r>
            <a:r>
              <a:rPr lang="en-US" dirty="0"/>
              <a:t>‘ to assign a value to the variable</a:t>
            </a:r>
          </a:p>
          <a:p>
            <a:r>
              <a:rPr lang="en-US" dirty="0"/>
              <a:t>The variable name should be meaningful to the data it holds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first_name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last_name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age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etc.</a:t>
            </a:r>
          </a:p>
          <a:p>
            <a:r>
              <a:rPr lang="en-US" dirty="0"/>
              <a:t>Variables should be named underscores between words – PEP8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first_name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Adobe Garamond Pro" panose="02020502060506020403"/>
              </a:rPr>
              <a:t>or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last_name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Adobe Garamond Pro" panose="02020502060506020403"/>
              </a:rPr>
              <a:t>or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lastName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E2770-DD21-4AE2-9A6B-B0E4E0E82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9144" y="2255164"/>
            <a:ext cx="5181598" cy="27921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pi = 3.14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first_name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"Tony“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last_name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"Stark"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num_of_love_yous</a:t>
            </a:r>
            <a:r>
              <a:rPr lang="en-US" dirty="0">
                <a:latin typeface="Consolas" panose="020B0609020204030204" pitchFamily="49" charset="0"/>
              </a:rPr>
              <a:t> = 3000</a:t>
            </a:r>
          </a:p>
        </p:txBody>
      </p:sp>
    </p:spTree>
    <p:extLst>
      <p:ext uri="{BB962C8B-B14F-4D97-AF65-F5344CB8AC3E}">
        <p14:creationId xmlns:p14="http://schemas.microsoft.com/office/powerpoint/2010/main" val="146287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D923-6501-82AD-188F-5337AFDC9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and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2FEB-C1D8-7C64-E1DF-74A2C671C3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To get console-based input from the keyboard you need to use the </a:t>
            </a:r>
            <a:r>
              <a:rPr lang="en-US" sz="1800" b="1" dirty="0"/>
              <a:t>input() </a:t>
            </a:r>
            <a:r>
              <a:rPr lang="en-US" sz="1800" dirty="0"/>
              <a:t>function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input() </a:t>
            </a:r>
            <a:r>
              <a:rPr lang="en-US" sz="1800" dirty="0"/>
              <a:t>allows for a text prompt to be put in that prints out</a:t>
            </a:r>
          </a:p>
          <a:p>
            <a:r>
              <a:rPr lang="en-US" sz="1800" dirty="0"/>
              <a:t>That </a:t>
            </a:r>
            <a:r>
              <a:rPr lang="en-US" sz="1800" b="1" dirty="0"/>
              <a:t>input() </a:t>
            </a:r>
            <a:r>
              <a:rPr lang="en-US" sz="1800" dirty="0"/>
              <a:t>function should be assigned to variable to store for use in a program</a:t>
            </a:r>
          </a:p>
          <a:p>
            <a:r>
              <a:rPr lang="en-US" sz="1800" dirty="0"/>
              <a:t>The data from </a:t>
            </a:r>
            <a:r>
              <a:rPr lang="en-US" sz="1800" b="1" dirty="0"/>
              <a:t>input() </a:t>
            </a:r>
            <a:r>
              <a:rPr lang="en-US" sz="1800" dirty="0"/>
              <a:t>comes in text form, sometimes you need it in other forms like an integer(whole number) or float (decimals/fraction number)</a:t>
            </a:r>
          </a:p>
          <a:p>
            <a:pPr lvl="1"/>
            <a:r>
              <a:rPr lang="en-US" sz="1600" b="1" dirty="0">
                <a:latin typeface="Consolas" panose="020B0609020204030204" pitchFamily="49" charset="0"/>
              </a:rPr>
              <a:t>int(value)</a:t>
            </a:r>
          </a:p>
          <a:p>
            <a:pPr lvl="1"/>
            <a:r>
              <a:rPr lang="en-US" sz="1600" b="1" dirty="0">
                <a:latin typeface="Consolas" panose="020B0609020204030204" pitchFamily="49" charset="0"/>
              </a:rPr>
              <a:t>float(value)</a:t>
            </a:r>
          </a:p>
          <a:p>
            <a:r>
              <a:rPr lang="en-US" sz="1800" dirty="0"/>
              <a:t>For this we have to cast the input/variable.</a:t>
            </a:r>
          </a:p>
          <a:p>
            <a:pPr lvl="1"/>
            <a:r>
              <a:rPr lang="en-US" sz="1600" dirty="0"/>
              <a:t>This can be done with the </a:t>
            </a:r>
            <a:r>
              <a:rPr lang="en-US" sz="1600" b="1" dirty="0"/>
              <a:t>input() </a:t>
            </a:r>
            <a:r>
              <a:rPr lang="en-US" sz="1600" dirty="0"/>
              <a:t>or after the fact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DB1BB-9821-06F9-B76D-23FC5057BA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your first name: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# doesn’t save values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your last name: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first_name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your first name: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#saves to var</a:t>
            </a: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last_name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your last name: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 err="1">
                <a:latin typeface="Consolas" panose="020B0609020204030204" pitchFamily="49" charset="0"/>
              </a:rPr>
              <a:t>how_much_love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"How much do you love me?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rain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rainfall: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age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age: 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dirty="0">
                <a:latin typeface="Consolas" panose="020B0609020204030204" pitchFamily="49" charset="0"/>
              </a:rPr>
              <a:t>age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(age)</a:t>
            </a:r>
          </a:p>
        </p:txBody>
      </p:sp>
    </p:spTree>
    <p:extLst>
      <p:ext uri="{BB962C8B-B14F-4D97-AF65-F5344CB8AC3E}">
        <p14:creationId xmlns:p14="http://schemas.microsoft.com/office/powerpoint/2010/main" val="45456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37C9-0B61-B67A-7B2E-0395BE9D6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DE7E-3060-F9A2-EE89-8BA091063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802" y="1257623"/>
            <a:ext cx="4843272" cy="4523245"/>
          </a:xfrm>
        </p:spPr>
        <p:txBody>
          <a:bodyPr>
            <a:noAutofit/>
          </a:bodyPr>
          <a:lstStyle/>
          <a:p>
            <a:r>
              <a:rPr lang="en-US" sz="1800" dirty="0"/>
              <a:t>There are several ways to print out variables combine with text</a:t>
            </a:r>
          </a:p>
          <a:p>
            <a:r>
              <a:rPr lang="en-US" sz="2000" dirty="0"/>
              <a:t>Concatenation using the “+” operator</a:t>
            </a:r>
          </a:p>
          <a:p>
            <a:pPr lvl="1"/>
            <a:r>
              <a:rPr lang="en-US" sz="1800" dirty="0"/>
              <a:t>If you are combining text and numbers you must cast variables to string using str() otherwise an error occurs</a:t>
            </a:r>
          </a:p>
          <a:p>
            <a:r>
              <a:rPr lang="en-US" sz="2000" dirty="0"/>
              <a:t>Using the separator ‘,’ between elements in print()</a:t>
            </a:r>
          </a:p>
          <a:p>
            <a:pPr lvl="1"/>
            <a:r>
              <a:rPr lang="en-US" sz="1800" dirty="0"/>
              <a:t>By default, adds spacing. Do you want spacing? You have to constantly modify </a:t>
            </a:r>
            <a:r>
              <a:rPr lang="en-US" sz="1800" dirty="0" err="1"/>
              <a:t>sep</a:t>
            </a:r>
            <a:r>
              <a:rPr lang="en-US" sz="1800" dirty="0"/>
              <a:t> value in prints</a:t>
            </a:r>
          </a:p>
          <a:p>
            <a:r>
              <a:rPr lang="en-US" sz="2000" dirty="0"/>
              <a:t>Using f-strings to easier and more controlled format</a:t>
            </a:r>
          </a:p>
          <a:p>
            <a:pPr lvl="1"/>
            <a:r>
              <a:rPr lang="en-US" sz="1800" dirty="0"/>
              <a:t>great for controlling decimal places and combining several variables – quick and easy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2D965-2A0E-235D-F1A6-BBEE0EEDC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31417" y="1137591"/>
            <a:ext cx="6921285" cy="41433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name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name: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sticker_count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"How many stickers do you want? "</a:t>
            </a:r>
            <a:r>
              <a:rPr lang="en-US" sz="12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"Hello, "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+ name +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", welcome."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"Hello,"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name,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", welcome"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"Hello, "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+ name +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", you will get " 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+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str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stickerCount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 +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 stickers."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"Hello,", name, ",you will get"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stickerCount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"stickers."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f"Hello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{name}, you will get {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stickerCount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 stickers."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number = 23456.326589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f"Two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decimals: {number:.2f}"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f"Four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decimals: {number:.4f}"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f"Commas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: {number:,.2f}"</a:t>
            </a:r>
            <a:r>
              <a:rPr lang="en-US" sz="1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 descr="Output of the above code showing different prints.">
            <a:extLst>
              <a:ext uri="{FF2B5EF4-FFF2-40B4-BE49-F238E27FC236}">
                <a16:creationId xmlns:a16="http://schemas.microsoft.com/office/drawing/2014/main" id="{F7C6B2B4-4A0F-C741-83BD-B2B36EB0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105" y="4843826"/>
            <a:ext cx="4205025" cy="185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6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103-96C1-9E2C-9585-CB117918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87C60-0867-BDC3-6D4D-F6C5AC171F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Use the following to perform math operations</a:t>
            </a:r>
          </a:p>
          <a:p>
            <a:pPr lvl="1"/>
            <a:r>
              <a:rPr lang="en-US" sz="1600" dirty="0"/>
              <a:t>+  to add</a:t>
            </a:r>
          </a:p>
          <a:p>
            <a:pPr lvl="1"/>
            <a:r>
              <a:rPr lang="en-US" sz="1600" dirty="0"/>
              <a:t>-  to subtract</a:t>
            </a:r>
          </a:p>
          <a:p>
            <a:pPr lvl="1"/>
            <a:r>
              <a:rPr lang="en-US" sz="1600" dirty="0"/>
              <a:t>*  to multiply</a:t>
            </a:r>
          </a:p>
          <a:p>
            <a:pPr lvl="1"/>
            <a:r>
              <a:rPr lang="en-US" sz="1600" dirty="0"/>
              <a:t>/  for division</a:t>
            </a:r>
          </a:p>
          <a:p>
            <a:pPr lvl="1"/>
            <a:r>
              <a:rPr lang="en-US" sz="1600" dirty="0"/>
              <a:t>//  for integer division (no decimals)</a:t>
            </a:r>
          </a:p>
          <a:p>
            <a:pPr lvl="1"/>
            <a:r>
              <a:rPr lang="en-US" sz="1600" dirty="0"/>
              <a:t>%  for modulus division (get the remainder)</a:t>
            </a:r>
          </a:p>
          <a:p>
            <a:pPr lvl="1"/>
            <a:r>
              <a:rPr lang="en-US" sz="1600" dirty="0"/>
              <a:t>** for exponentiation</a:t>
            </a:r>
          </a:p>
          <a:p>
            <a:r>
              <a:rPr lang="en-US" sz="1800" dirty="0"/>
              <a:t>We also have the math module that has built in functions (more on this in Module 02)</a:t>
            </a:r>
          </a:p>
          <a:p>
            <a:pPr lvl="1"/>
            <a:r>
              <a:rPr lang="en-US" sz="1600" dirty="0"/>
              <a:t>import math</a:t>
            </a:r>
          </a:p>
          <a:p>
            <a:pPr lvl="1"/>
            <a:r>
              <a:rPr lang="en-US" sz="1600" dirty="0" err="1"/>
              <a:t>math.pi</a:t>
            </a:r>
            <a:r>
              <a:rPr lang="en-US" sz="1600" dirty="0"/>
              <a:t> </a:t>
            </a:r>
          </a:p>
          <a:p>
            <a:pPr lvl="1"/>
            <a:r>
              <a:rPr lang="en-US" sz="1600" dirty="0" err="1"/>
              <a:t>math.sqrt</a:t>
            </a:r>
            <a:r>
              <a:rPr lang="en-US" sz="1600" dirty="0"/>
              <a:t>()</a:t>
            </a:r>
          </a:p>
          <a:p>
            <a:pPr lvl="1"/>
            <a:r>
              <a:rPr lang="en-US" sz="1600" dirty="0"/>
              <a:t>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18805-1363-1B8F-A277-77D3A28527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num1 =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num2 = 7.3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add = num1 + num2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sub = num1 - num2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multiply = num1 *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divide = num2 / 4.21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whole_div = num1 //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mod_div = num1 %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exp = num1 **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import math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Consolas" panose="020B0609020204030204" pitchFamily="49" charset="0"/>
              </a:rPr>
              <a:t>root = math.sqrt(exp)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 descr="values of all the variables if printed out from the math code here.">
            <a:extLst>
              <a:ext uri="{FF2B5EF4-FFF2-40B4-BE49-F238E27FC236}">
                <a16:creationId xmlns:a16="http://schemas.microsoft.com/office/drawing/2014/main" id="{AF7AB6BC-E164-8589-740C-A9C70019B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47" y="1792637"/>
            <a:ext cx="3358053" cy="285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7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C6BA-B6E7-5E34-A85B-69EDE31F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Conditionals – if/else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0A4D7-CB3D-1334-81C9-4053617EC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8623" y="1552575"/>
            <a:ext cx="4843272" cy="4403940"/>
          </a:xfrm>
        </p:spPr>
        <p:txBody>
          <a:bodyPr>
            <a:noAutofit/>
          </a:bodyPr>
          <a:lstStyle/>
          <a:p>
            <a:r>
              <a:rPr lang="en-US" sz="1600" dirty="0"/>
              <a:t>To help us control the functionality of our program we use conditionals.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if – </a:t>
            </a:r>
            <a:r>
              <a:rPr lang="en-US" sz="1600" dirty="0" err="1">
                <a:latin typeface="Consolas" panose="020B0609020204030204" pitchFamily="49" charset="0"/>
              </a:rPr>
              <a:t>elif</a:t>
            </a:r>
            <a:r>
              <a:rPr lang="en-US" sz="1600" dirty="0">
                <a:latin typeface="Consolas" panose="020B0609020204030204" pitchFamily="49" charset="0"/>
              </a:rPr>
              <a:t> – else</a:t>
            </a:r>
          </a:p>
          <a:p>
            <a:r>
              <a:rPr lang="en-US" sz="1600" dirty="0"/>
              <a:t>Conditionals use Boolean expressions that if solved out to True will run the code</a:t>
            </a:r>
          </a:p>
          <a:p>
            <a:pPr lvl="1"/>
            <a:r>
              <a:rPr lang="en-US" sz="1600" dirty="0"/>
              <a:t>Boolean expressions us relational operators and logical operators</a:t>
            </a:r>
          </a:p>
          <a:p>
            <a:pPr lvl="2"/>
            <a:r>
              <a:rPr lang="en-US" sz="1400" dirty="0">
                <a:latin typeface="Consolas" panose="020B0609020204030204" pitchFamily="49" charset="0"/>
              </a:rPr>
              <a:t>&gt;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&gt;=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&lt;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&lt;=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==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!=</a:t>
            </a:r>
          </a:p>
          <a:p>
            <a:pPr lvl="2"/>
            <a:r>
              <a:rPr lang="en-US" sz="1400" dirty="0">
                <a:latin typeface="Consolas" panose="020B0609020204030204" pitchFamily="49" charset="0"/>
              </a:rPr>
              <a:t>and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or</a:t>
            </a:r>
            <a:r>
              <a:rPr lang="en-US" sz="1400" dirty="0"/>
              <a:t>, </a:t>
            </a:r>
            <a:r>
              <a:rPr lang="en-US" sz="1400" dirty="0">
                <a:latin typeface="Consolas" panose="020B0609020204030204" pitchFamily="49" charset="0"/>
              </a:rPr>
              <a:t>not</a:t>
            </a:r>
          </a:p>
          <a:p>
            <a:r>
              <a:rPr lang="en-US" sz="1600" dirty="0"/>
              <a:t>Remember to have a colon at the end and all lines of code tabbed in that you want to run in the condition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elif</a:t>
            </a:r>
            <a:r>
              <a:rPr lang="en-US" sz="1600" dirty="0"/>
              <a:t> and </a:t>
            </a:r>
            <a:r>
              <a:rPr lang="en-US" sz="1600" dirty="0">
                <a:latin typeface="Consolas" panose="020B0609020204030204" pitchFamily="49" charset="0"/>
              </a:rPr>
              <a:t>else</a:t>
            </a:r>
            <a:r>
              <a:rPr lang="en-US" sz="1600" dirty="0"/>
              <a:t> aren’t required</a:t>
            </a:r>
          </a:p>
          <a:p>
            <a:pPr lvl="1"/>
            <a:r>
              <a:rPr lang="en-US" sz="1600" dirty="0"/>
              <a:t>You can have as many </a:t>
            </a:r>
            <a:r>
              <a:rPr lang="en-US" sz="1600" dirty="0" err="1">
                <a:latin typeface="Consolas" panose="020B0609020204030204" pitchFamily="49" charset="0"/>
              </a:rPr>
              <a:t>elif</a:t>
            </a:r>
            <a:r>
              <a:rPr lang="en-US" sz="1600" dirty="0"/>
              <a:t> as you want</a:t>
            </a:r>
          </a:p>
          <a:p>
            <a:pPr lvl="1"/>
            <a:r>
              <a:rPr lang="en-US" sz="1600" dirty="0"/>
              <a:t>Remember else doesn’t need a Boolean expression</a:t>
            </a:r>
          </a:p>
          <a:p>
            <a:pPr lvl="1"/>
            <a:r>
              <a:rPr lang="en-US" sz="1600" dirty="0"/>
              <a:t>else is always tied to the closest if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17678-60FC-E868-B865-70D032C17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64379" y="1118541"/>
            <a:ext cx="5181598" cy="462091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grade =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letter grade: 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"A"</a:t>
            </a:r>
            <a:r>
              <a:rPr lang="en-US" sz="900" dirty="0">
                <a:latin typeface="Consolas" panose="020B0609020204030204" pitchFamily="49" charset="0"/>
              </a:rPr>
              <a:t> or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"a"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"100%"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"B"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"90%"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"C"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"c"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"80%"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"D"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"d"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"70%"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elif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"F"</a:t>
            </a:r>
            <a:r>
              <a:rPr lang="en-US" sz="900" dirty="0"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900" dirty="0">
                <a:latin typeface="Consolas" panose="020B0609020204030204" pitchFamily="49" charset="0"/>
              </a:rPr>
              <a:t> grade ==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"f"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"50%"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"Error, no matching grade"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---------------------------------------------------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"** Insurance Calculator **"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insurance = 200 </a:t>
            </a:r>
            <a:r>
              <a:rPr 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# starting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age =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age: "</a:t>
            </a:r>
            <a:r>
              <a:rPr lang="en-US" sz="9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accidents =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number of accidents: "</a:t>
            </a:r>
            <a:r>
              <a:rPr lang="en-US" sz="9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900" dirty="0">
                <a:latin typeface="Consolas" panose="020B0609020204030204" pitchFamily="49" charset="0"/>
              </a:rPr>
              <a:t> accidents &lt; 6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and</a:t>
            </a:r>
            <a:r>
              <a:rPr lang="en-US" sz="900" dirty="0">
                <a:latin typeface="Consolas" panose="020B0609020204030204" pitchFamily="49" charset="0"/>
              </a:rPr>
              <a:t> age &gt;= 15: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900" dirty="0">
                <a:latin typeface="Consolas" panose="020B0609020204030204" pitchFamily="49" charset="0"/>
              </a:rPr>
              <a:t> age &lt; 19: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    insurance += 100  </a:t>
            </a:r>
            <a:r>
              <a:rPr 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# due to age, higher insurance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insurance += accidents * 45 </a:t>
            </a:r>
            <a:r>
              <a:rPr 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# add $45 per accident charge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f"Insurance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Cost: ${insurance}"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en-US" sz="9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</a:t>
            </a:r>
            <a:r>
              <a:rPr 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900" dirty="0"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"Sorry, can't insure, you have "</a:t>
            </a:r>
            <a:r>
              <a:rPr lang="en-US" sz="900" dirty="0">
                <a:latin typeface="Consolas" panose="020B0609020204030204" pitchFamily="49" charset="0"/>
              </a:rPr>
              <a:t> + 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dirty="0">
                <a:latin typeface="Consolas" panose="020B0609020204030204" pitchFamily="49" charset="0"/>
              </a:rPr>
              <a:t>          </a:t>
            </a: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"had too many accidents and/or not old enough."</a:t>
            </a:r>
            <a:r>
              <a:rPr lang="en-US" sz="9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Consolas" panose="020B0609020204030204" pitchFamily="49" charset="0"/>
            </a:endParaRPr>
          </a:p>
        </p:txBody>
      </p:sp>
      <p:pic>
        <p:nvPicPr>
          <p:cNvPr id="6" name="Picture 5" descr="example run with age 16 and 0 accidents&#10;">
            <a:extLst>
              <a:ext uri="{FF2B5EF4-FFF2-40B4-BE49-F238E27FC236}">
                <a16:creationId xmlns:a16="http://schemas.microsoft.com/office/drawing/2014/main" id="{61749AF3-7895-1BC9-455B-A11F70E9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810" y="3310135"/>
            <a:ext cx="2292190" cy="629545"/>
          </a:xfrm>
          <a:prstGeom prst="rect">
            <a:avLst/>
          </a:prstGeom>
        </p:spPr>
      </p:pic>
      <p:pic>
        <p:nvPicPr>
          <p:cNvPr id="8" name="Picture 7" descr="Example run with age 32 and 0 accidents.">
            <a:extLst>
              <a:ext uri="{FF2B5EF4-FFF2-40B4-BE49-F238E27FC236}">
                <a16:creationId xmlns:a16="http://schemas.microsoft.com/office/drawing/2014/main" id="{E86B3C48-627E-465D-8BC9-BD793205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53" y="3941494"/>
            <a:ext cx="2314471" cy="674881"/>
          </a:xfrm>
          <a:prstGeom prst="rect">
            <a:avLst/>
          </a:prstGeom>
        </p:spPr>
      </p:pic>
      <p:pic>
        <p:nvPicPr>
          <p:cNvPr id="10" name="Picture 9" descr="Example run with age 25 and 3 accidents.">
            <a:extLst>
              <a:ext uri="{FF2B5EF4-FFF2-40B4-BE49-F238E27FC236}">
                <a16:creationId xmlns:a16="http://schemas.microsoft.com/office/drawing/2014/main" id="{ED4C4F8F-77BD-E2A6-3B2D-C7199B2A7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485" y="4683702"/>
            <a:ext cx="2847757" cy="734750"/>
          </a:xfrm>
          <a:prstGeom prst="rect">
            <a:avLst/>
          </a:prstGeom>
        </p:spPr>
      </p:pic>
      <p:pic>
        <p:nvPicPr>
          <p:cNvPr id="12" name="Picture 11" descr="Example run with age of 42 and 8 accidents.">
            <a:extLst>
              <a:ext uri="{FF2B5EF4-FFF2-40B4-BE49-F238E27FC236}">
                <a16:creationId xmlns:a16="http://schemas.microsoft.com/office/drawing/2014/main" id="{75A56091-A7FC-AA88-7EC7-2D21CFB7C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625" y="5764141"/>
            <a:ext cx="5073316" cy="544692"/>
          </a:xfrm>
          <a:prstGeom prst="rect">
            <a:avLst/>
          </a:prstGeom>
        </p:spPr>
      </p:pic>
      <p:pic>
        <p:nvPicPr>
          <p:cNvPr id="14" name="Picture 13" descr="Example run with age 13 and 0 accidents.">
            <a:extLst>
              <a:ext uri="{FF2B5EF4-FFF2-40B4-BE49-F238E27FC236}">
                <a16:creationId xmlns:a16="http://schemas.microsoft.com/office/drawing/2014/main" id="{3680EB93-9DC5-3A02-1BA4-4890A8AFD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624" y="6333517"/>
            <a:ext cx="5133047" cy="5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3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6F3B-4F20-2D38-BAB6-2DC4144B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Simple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582C-3BC2-8E77-C98A-64FE5CC08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put our skills to the test.</a:t>
            </a:r>
          </a:p>
          <a:p>
            <a:r>
              <a:rPr lang="en-US" dirty="0"/>
              <a:t>I want to make a simple calculator to enter some numbers, pick a math operation and produce the results.</a:t>
            </a:r>
          </a:p>
          <a:p>
            <a:r>
              <a:rPr lang="en-US" dirty="0"/>
              <a:t>We can discuss different features/options to code</a:t>
            </a:r>
          </a:p>
        </p:txBody>
      </p:sp>
    </p:spTree>
    <p:extLst>
      <p:ext uri="{BB962C8B-B14F-4D97-AF65-F5344CB8AC3E}">
        <p14:creationId xmlns:p14="http://schemas.microsoft.com/office/powerpoint/2010/main" val="257188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AEDD-6A53-6F5E-55EA-87B89114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0D995-5823-9A67-E679-EA08AB8F4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0334" y="1612733"/>
            <a:ext cx="4843272" cy="4553451"/>
          </a:xfrm>
        </p:spPr>
        <p:txBody>
          <a:bodyPr>
            <a:noAutofit/>
          </a:bodyPr>
          <a:lstStyle/>
          <a:p>
            <a:r>
              <a:rPr lang="en-US" sz="1800" dirty="0"/>
              <a:t>When we want to repeat code we use loops</a:t>
            </a:r>
          </a:p>
          <a:p>
            <a:r>
              <a:rPr lang="en-US" sz="1800" b="1" dirty="0"/>
              <a:t>while</a:t>
            </a:r>
            <a:r>
              <a:rPr lang="en-US" sz="1800" dirty="0"/>
              <a:t> – indefinite loop – unknown how many times it will run</a:t>
            </a:r>
          </a:p>
          <a:p>
            <a:pPr lvl="1"/>
            <a:r>
              <a:rPr lang="en-US" sz="1600" dirty="0"/>
              <a:t>Great for repeating our console programs</a:t>
            </a:r>
          </a:p>
          <a:p>
            <a:pPr lvl="1"/>
            <a:r>
              <a:rPr lang="en-US" sz="1600" dirty="0"/>
              <a:t>Checking for input validation</a:t>
            </a:r>
          </a:p>
          <a:p>
            <a:pPr lvl="1"/>
            <a:r>
              <a:rPr lang="en-US" sz="1600" dirty="0"/>
              <a:t>Doing math on variables until a value is reached</a:t>
            </a:r>
          </a:p>
          <a:p>
            <a:r>
              <a:rPr lang="en-US" sz="1800" dirty="0"/>
              <a:t>At the end of defining a loop you need a colon and all lines tabbed in underneath to run within</a:t>
            </a:r>
          </a:p>
          <a:p>
            <a:pPr lvl="1"/>
            <a:r>
              <a:rPr lang="en-US" sz="1600" dirty="0"/>
              <a:t>we also have ‘break’ and ‘continue’ keywords to help with specific operations</a:t>
            </a:r>
          </a:p>
          <a:p>
            <a:r>
              <a:rPr lang="en-US" sz="1800" dirty="0"/>
              <a:t>Number one error, not modifying the variable you are using in the while Boolean check, inside of the while loop</a:t>
            </a:r>
          </a:p>
          <a:p>
            <a:pPr lvl="1"/>
            <a:r>
              <a:rPr lang="en-US" sz="1600" dirty="0"/>
              <a:t>Make sure to get input from user AGAIN</a:t>
            </a:r>
          </a:p>
          <a:p>
            <a:pPr lvl="1"/>
            <a:r>
              <a:rPr lang="en-US" sz="1600" dirty="0"/>
              <a:t>Do math to a variable.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2E0D6-5734-C982-586A-146D4C45D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9439" y="758240"/>
            <a:ext cx="5181598" cy="563027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i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latin typeface="Consolas" panose="020B0609020204030204" pitchFamily="49" charset="0"/>
              </a:rPr>
              <a:t> i &lt; 10: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(i)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i +=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grocery_list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en-US" sz="1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item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grocery item: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 item ==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"Q"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1200" dirty="0">
                <a:latin typeface="Consolas" panose="020B0609020204030204" pitchFamily="49" charset="0"/>
              </a:rPr>
              <a:t> item ==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"q"</a:t>
            </a:r>
            <a:r>
              <a:rPr lang="en-US" sz="1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 err="1">
                <a:latin typeface="Consolas" panose="020B0609020204030204" pitchFamily="49" charset="0"/>
              </a:rPr>
              <a:t>grocery_list</a:t>
            </a:r>
            <a:r>
              <a:rPr lang="en-US" sz="1200" dirty="0">
                <a:latin typeface="Consolas" panose="020B0609020204030204" pitchFamily="49" charset="0"/>
              </a:rPr>
              <a:t> +=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"\n"</a:t>
            </a:r>
            <a:r>
              <a:rPr lang="en-US" sz="1200" dirty="0">
                <a:latin typeface="Consolas" panose="020B0609020204030204" pitchFamily="49" charset="0"/>
              </a:rPr>
              <a:t> + item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"Grocery List: \n"</a:t>
            </a:r>
            <a:r>
              <a:rPr lang="en-US" sz="1200" dirty="0">
                <a:latin typeface="Consolas" panose="020B0609020204030204" pitchFamily="49" charset="0"/>
              </a:rPr>
              <a:t> + </a:t>
            </a:r>
            <a:r>
              <a:rPr lang="en-US" sz="1200" dirty="0" err="1">
                <a:latin typeface="Consolas" panose="020B0609020204030204" pitchFamily="49" charset="0"/>
              </a:rPr>
              <a:t>groceryList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choice = 0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# prime input to run loop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latin typeface="Consolas" panose="020B0609020204030204" pitchFamily="49" charset="0"/>
              </a:rPr>
              <a:t> choice != 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"1. Do something"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"2. Do another thing"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"3. Exit"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choice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"Operation: "</a:t>
            </a:r>
            <a:r>
              <a:rPr lang="en-US" sz="12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#.... code for if/else if ....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choice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"Operation: "</a:t>
            </a:r>
            <a:r>
              <a:rPr lang="en-US" sz="120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sz="1200" dirty="0">
                <a:latin typeface="Consolas" panose="020B0609020204030204" pitchFamily="49" charset="0"/>
              </a:rPr>
              <a:t> choice &lt; 1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or</a:t>
            </a:r>
            <a:r>
              <a:rPr lang="en-US" sz="1200" dirty="0">
                <a:latin typeface="Consolas" panose="020B0609020204030204" pitchFamily="49" charset="0"/>
              </a:rPr>
              <a:t> choice &gt; 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"Enter valid operation."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choice =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input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"Operation: "</a:t>
            </a:r>
            <a:r>
              <a:rPr lang="en-US" sz="1200" dirty="0">
                <a:latin typeface="Consolas" panose="020B0609020204030204" pitchFamily="49" charset="0"/>
              </a:rPr>
              <a:t>))</a:t>
            </a:r>
          </a:p>
        </p:txBody>
      </p:sp>
      <p:pic>
        <p:nvPicPr>
          <p:cNvPr id="6" name="Picture 5" descr="Output of grocery list program">
            <a:extLst>
              <a:ext uri="{FF2B5EF4-FFF2-40B4-BE49-F238E27FC236}">
                <a16:creationId xmlns:a16="http://schemas.microsoft.com/office/drawing/2014/main" id="{99BE5DB8-4333-8926-F1A6-2C2E5F221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490" y="1310737"/>
            <a:ext cx="2368309" cy="1497944"/>
          </a:xfrm>
          <a:prstGeom prst="rect">
            <a:avLst/>
          </a:prstGeom>
        </p:spPr>
      </p:pic>
      <p:pic>
        <p:nvPicPr>
          <p:cNvPr id="8" name="Picture 7" descr="Output of the menu program.">
            <a:extLst>
              <a:ext uri="{FF2B5EF4-FFF2-40B4-BE49-F238E27FC236}">
                <a16:creationId xmlns:a16="http://schemas.microsoft.com/office/drawing/2014/main" id="{7FD8A468-66B0-8480-DE64-1C5B10D5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489" y="3216666"/>
            <a:ext cx="2368309" cy="1665308"/>
          </a:xfrm>
          <a:prstGeom prst="rect">
            <a:avLst/>
          </a:prstGeom>
        </p:spPr>
      </p:pic>
      <p:pic>
        <p:nvPicPr>
          <p:cNvPr id="10" name="Picture 9" descr="Code to show while loop validation of input.">
            <a:extLst>
              <a:ext uri="{FF2B5EF4-FFF2-40B4-BE49-F238E27FC236}">
                <a16:creationId xmlns:a16="http://schemas.microsoft.com/office/drawing/2014/main" id="{DF1C39E9-F60A-011C-2C5C-2F3B9FD9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489" y="5203954"/>
            <a:ext cx="2878688" cy="118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21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F9CD-45BA-F4EC-80A4-0CA8C2B7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39AD-A4DA-79DC-65B8-F7DA03CA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983FB-7042-E230-0F75-DD8F5D6C7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226" y="1708986"/>
            <a:ext cx="4843272" cy="4143375"/>
          </a:xfrm>
        </p:spPr>
        <p:txBody>
          <a:bodyPr>
            <a:noAutofit/>
          </a:bodyPr>
          <a:lstStyle/>
          <a:p>
            <a:r>
              <a:rPr lang="en-US" sz="1800" dirty="0"/>
              <a:t>When we want to repeat code we use loops</a:t>
            </a:r>
          </a:p>
          <a:p>
            <a:r>
              <a:rPr lang="en-US" sz="1800" dirty="0"/>
              <a:t>for – definite loop – set amount of times to run</a:t>
            </a:r>
          </a:p>
          <a:p>
            <a:pPr lvl="1"/>
            <a:r>
              <a:rPr lang="en-US" sz="1800" dirty="0"/>
              <a:t>Loop through a range of numbers/times based on input</a:t>
            </a:r>
          </a:p>
          <a:p>
            <a:pPr lvl="1"/>
            <a:r>
              <a:rPr lang="en-US" sz="1800" dirty="0"/>
              <a:t>Loop through a collection (like a list) of items and perform action with/on them</a:t>
            </a:r>
          </a:p>
          <a:p>
            <a:r>
              <a:rPr lang="en-US" sz="1800" dirty="0"/>
              <a:t>loops usually use the </a:t>
            </a:r>
            <a:r>
              <a:rPr lang="en-US" sz="1800" dirty="0">
                <a:latin typeface="Consolas" panose="020B0609020204030204" pitchFamily="49" charset="0"/>
              </a:rPr>
              <a:t>range()</a:t>
            </a:r>
            <a:r>
              <a:rPr lang="en-US" sz="1800" dirty="0"/>
              <a:t>(for numbers) and a variable with ‘</a:t>
            </a:r>
            <a:r>
              <a:rPr lang="en-US" sz="1800" dirty="0">
                <a:latin typeface="Consolas" panose="020B0609020204030204" pitchFamily="49" charset="0"/>
              </a:rPr>
              <a:t>in</a:t>
            </a:r>
            <a:r>
              <a:rPr lang="en-US" sz="1800" dirty="0"/>
              <a:t>’ operator</a:t>
            </a:r>
          </a:p>
          <a:p>
            <a:r>
              <a:rPr lang="en-US" sz="1800" dirty="0"/>
              <a:t>At the end of defining a loop you need a colon and all lines tabbed in underneath to run within</a:t>
            </a:r>
          </a:p>
          <a:p>
            <a:pPr lvl="1"/>
            <a:r>
              <a:rPr lang="en-US" sz="1800" dirty="0"/>
              <a:t>we also have ‘break’ and ‘continue’ keywords to help with specific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52633-F46D-2A25-BAA0-C9FACFA6A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4134" y="1576638"/>
            <a:ext cx="5181598" cy="433086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i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latin typeface="Consolas" panose="020B0609020204030204" pitchFamily="49" charset="0"/>
              </a:rPr>
              <a:t>(5):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(i, end=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i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latin typeface="Consolas" panose="020B0609020204030204" pitchFamily="49" charset="0"/>
              </a:rPr>
              <a:t>(1, 11):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(i, end=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i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latin typeface="Consolas" panose="020B0609020204030204" pitchFamily="49" charset="0"/>
              </a:rPr>
              <a:t>(0, 21, 2):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(i, end=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i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range</a:t>
            </a:r>
            <a:r>
              <a:rPr lang="en-US" sz="1200" dirty="0">
                <a:latin typeface="Consolas" panose="020B0609020204030204" pitchFamily="49" charset="0"/>
              </a:rPr>
              <a:t>(5, 0, -1):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(i, end=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Output of the code.">
            <a:extLst>
              <a:ext uri="{FF2B5EF4-FFF2-40B4-BE49-F238E27FC236}">
                <a16:creationId xmlns:a16="http://schemas.microsoft.com/office/drawing/2014/main" id="{585A6C84-A689-6611-8340-DC53913A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59" y="2485236"/>
            <a:ext cx="3802510" cy="188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9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F069-5295-4B4E-5EC9-5F6ABFCA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48003-E4FF-CBBA-7D82-5A662F904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25" y="1314450"/>
            <a:ext cx="5812277" cy="485937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dirty="0"/>
              <a:t>Functions are great if we have some code or operation that repeats throughout out program or to make our code easier to read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We make it generic and wrap the code in its own defined namespace to call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We use the ‘</a:t>
            </a:r>
            <a:r>
              <a:rPr lang="en-US" sz="1600" dirty="0">
                <a:latin typeface="Consolas" panose="020B0609020204030204" pitchFamily="49" charset="0"/>
              </a:rPr>
              <a:t>def</a:t>
            </a:r>
            <a:r>
              <a:rPr lang="en-US" sz="1600" dirty="0"/>
              <a:t>’ followed by the name of the function, then parenthesis and a colon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just like with variables, the name of the function should reflect what it does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The parenthesis allow us to define variables to use in the function that gets assigned values when we call the function in our code – parameters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All lines of code should be tabbed in underneath that will run in the function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Functions should do one thing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Functions can return a value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Or Functions don’t return anything (void)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Industry standard to have a main() function and call it check the __name__ property</a:t>
            </a:r>
          </a:p>
          <a:p>
            <a:pPr lvl="1">
              <a:spcBef>
                <a:spcPts val="600"/>
              </a:spcBef>
            </a:pPr>
            <a:r>
              <a:rPr lang="en-US" sz="1400" dirty="0"/>
              <a:t>See example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99F68-D06F-57E7-6A33-541C0618B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latin typeface="Consolas" panose="020B0609020204030204" pitchFamily="49" charset="0"/>
              </a:rPr>
              <a:t>(a, b):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latin typeface="Consolas" panose="020B0609020204030204" pitchFamily="49" charset="0"/>
              </a:rPr>
              <a:t> a + 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add_print</a:t>
            </a:r>
            <a:r>
              <a:rPr lang="en-US" sz="1800" dirty="0">
                <a:latin typeface="Consolas" panose="020B0609020204030204" pitchFamily="49" charset="0"/>
              </a:rPr>
              <a:t>(a, b):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print (</a:t>
            </a:r>
            <a:r>
              <a:rPr lang="en-US" sz="1800" dirty="0" err="1">
                <a:latin typeface="Consolas" panose="020B0609020204030204" pitchFamily="49" charset="0"/>
              </a:rPr>
              <a:t>a+b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add_print</a:t>
            </a:r>
            <a:r>
              <a:rPr lang="en-US" sz="1800" dirty="0">
                <a:latin typeface="Consolas" panose="020B0609020204030204" pitchFamily="49" charset="0"/>
              </a:rPr>
              <a:t>(4, 2)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math = add(4,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800" dirty="0">
                <a:latin typeface="Consolas" panose="020B0609020204030204" pitchFamily="49" charset="0"/>
              </a:rPr>
              <a:t>(math)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latin typeface="Consolas" panose="020B0609020204030204" pitchFamily="49" charset="0"/>
              </a:rPr>
              <a:t> __name__ ==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"__main__"</a:t>
            </a:r>
            <a:r>
              <a:rPr lang="en-US" sz="18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219614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B281-5091-9A97-EC31-8B760EA9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Simple Calc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F4688-AB18-46C6-3ABB-E3B0D77D3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know about looping and some functions.</a:t>
            </a:r>
          </a:p>
          <a:p>
            <a:r>
              <a:rPr lang="en-US" dirty="0"/>
              <a:t>Let’s take our Simple Calculator and apply these concepts.</a:t>
            </a:r>
          </a:p>
          <a:p>
            <a:pPr lvl="1"/>
            <a:r>
              <a:rPr lang="en-US" dirty="0"/>
              <a:t>while loop</a:t>
            </a:r>
          </a:p>
          <a:p>
            <a:pPr lvl="1"/>
            <a:r>
              <a:rPr lang="en-US" dirty="0"/>
              <a:t>check input values</a:t>
            </a:r>
          </a:p>
          <a:p>
            <a:pPr lvl="1"/>
            <a:r>
              <a:rPr lang="en-US" dirty="0"/>
              <a:t>move calculations to functions</a:t>
            </a:r>
          </a:p>
          <a:p>
            <a:r>
              <a:rPr lang="en-US" dirty="0"/>
              <a:t>We will use for loops more coming up….</a:t>
            </a:r>
          </a:p>
        </p:txBody>
      </p:sp>
    </p:spTree>
    <p:extLst>
      <p:ext uri="{BB962C8B-B14F-4D97-AF65-F5344CB8AC3E}">
        <p14:creationId xmlns:p14="http://schemas.microsoft.com/office/powerpoint/2010/main" val="3699263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EAF3-C4F1-F7AE-784F-EAE7CB37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EB54B-26FB-B253-0368-B133CC7CB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204" y="1552575"/>
            <a:ext cx="4843272" cy="4348872"/>
          </a:xfrm>
        </p:spPr>
        <p:txBody>
          <a:bodyPr>
            <a:noAutofit/>
          </a:bodyPr>
          <a:lstStyle/>
          <a:p>
            <a:r>
              <a:rPr lang="en-US" sz="1800" dirty="0"/>
              <a:t>When you want to have a variable that stores a bunch of data separated by entries, lists are great – things stay in a set order</a:t>
            </a:r>
          </a:p>
          <a:p>
            <a:r>
              <a:rPr lang="en-US" sz="1800" dirty="0"/>
              <a:t>They have elements that are stored at index locations</a:t>
            </a:r>
          </a:p>
          <a:p>
            <a:pPr lvl="1"/>
            <a:r>
              <a:rPr lang="en-US" sz="1600" dirty="0"/>
              <a:t>the first index is 0</a:t>
            </a:r>
          </a:p>
          <a:p>
            <a:pPr lvl="1"/>
            <a:r>
              <a:rPr lang="en-US" sz="1600" dirty="0"/>
              <a:t>the last index is the length (num of elements) – 1</a:t>
            </a:r>
          </a:p>
          <a:p>
            <a:pPr lvl="1"/>
            <a:r>
              <a:rPr lang="en-US" sz="1600" dirty="0"/>
              <a:t>You can use negative index to access last elements</a:t>
            </a:r>
          </a:p>
          <a:p>
            <a:r>
              <a:rPr lang="en-US" sz="1800" dirty="0"/>
              <a:t>You access elements using the square brackets [ ]</a:t>
            </a:r>
          </a:p>
          <a:p>
            <a:r>
              <a:rPr lang="en-US" sz="1800" dirty="0"/>
              <a:t>You can use for loops go through a list</a:t>
            </a:r>
          </a:p>
          <a:p>
            <a:r>
              <a:rPr lang="en-US" sz="1800" dirty="0"/>
              <a:t>Lists elements can be of different data types</a:t>
            </a:r>
          </a:p>
          <a:p>
            <a:r>
              <a:rPr lang="en-US" sz="1800" dirty="0"/>
              <a:t> Use functions like </a:t>
            </a:r>
            <a:r>
              <a:rPr lang="en-US" sz="1800" dirty="0">
                <a:latin typeface="Consolas" panose="020B0609020204030204" pitchFamily="49" charset="0"/>
              </a:rPr>
              <a:t>append()</a:t>
            </a:r>
            <a:r>
              <a:rPr lang="en-US" sz="1800" dirty="0"/>
              <a:t>, </a:t>
            </a:r>
            <a:r>
              <a:rPr lang="en-US" sz="1800" dirty="0">
                <a:latin typeface="Consolas" panose="020B0609020204030204" pitchFamily="49" charset="0"/>
              </a:rPr>
              <a:t>remove()</a:t>
            </a:r>
            <a:r>
              <a:rPr lang="en-US" sz="1800" dirty="0"/>
              <a:t>, </a:t>
            </a:r>
            <a:r>
              <a:rPr lang="en-US" sz="1800" dirty="0">
                <a:latin typeface="Consolas" panose="020B0609020204030204" pitchFamily="49" charset="0"/>
              </a:rPr>
              <a:t>del()</a:t>
            </a:r>
            <a:r>
              <a:rPr lang="en-US" sz="1800" dirty="0"/>
              <a:t> and </a:t>
            </a:r>
            <a:r>
              <a:rPr lang="en-US" sz="1800" dirty="0" err="1">
                <a:latin typeface="Consolas" panose="020B0609020204030204" pitchFamily="49" charset="0"/>
              </a:rPr>
              <a:t>len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  <a:r>
              <a:rPr lang="en-US" sz="1800" dirty="0"/>
              <a:t> on a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1AD2A-693E-7E42-02DD-C33FB1384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6656" y="1277445"/>
            <a:ext cx="5181598" cy="4624002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colors = []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colors = [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"red"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"green"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"blue"</a:t>
            </a:r>
            <a:r>
              <a:rPr lang="en-US" sz="12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"Number of colors:"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7030A0"/>
                </a:solidFill>
                <a:latin typeface="Consolas" panose="020B0609020204030204" pitchFamily="49" charset="0"/>
              </a:rPr>
              <a:t>len</a:t>
            </a:r>
            <a:r>
              <a:rPr lang="en-US" sz="1200" dirty="0">
                <a:latin typeface="Consolas" panose="020B0609020204030204" pitchFamily="49" charset="0"/>
              </a:rPr>
              <a:t>(colors))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colors[0]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"purple"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colors.append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"red"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colors.remove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"red"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del</a:t>
            </a:r>
            <a:r>
              <a:rPr lang="en-US" sz="1200" dirty="0">
                <a:latin typeface="Consolas" panose="020B0609020204030204" pitchFamily="49" charset="0"/>
              </a:rPr>
              <a:t>(colors[0])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(colors)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colors = [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"red"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"green"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"blue"</a:t>
            </a:r>
            <a:r>
              <a:rPr lang="en-US" sz="12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c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colors: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(c, end=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6" name="Picture 5" descr="Output of the code.">
            <a:extLst>
              <a:ext uri="{FF2B5EF4-FFF2-40B4-BE49-F238E27FC236}">
                <a16:creationId xmlns:a16="http://schemas.microsoft.com/office/drawing/2014/main" id="{F160C8D4-EA96-639C-41AF-CD679DBA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224" y="3009584"/>
            <a:ext cx="3795776" cy="16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81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CF54-CEC3-4622-EF90-42810F1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and their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E44A-DBC8-AF9B-40B2-A18BD289D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48987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“methods” is a function that is part of an object – so a function that you do on a String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All data in a program starts out as a string, we then convert it, manipulate it, split it, </a:t>
            </a:r>
            <a:r>
              <a:rPr lang="en-US" sz="1800" dirty="0" err="1"/>
              <a:t>etc</a:t>
            </a:r>
            <a:r>
              <a:rPr lang="en-US" sz="1800" dirty="0"/>
              <a:t> as needed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Because of this we have a bunch of built in functions to help us handle strings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lower() and upper()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.strip()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.replace()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.split()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Use the “in” keyword to check substring exists</a:t>
            </a:r>
          </a:p>
          <a:p>
            <a:pPr lvl="1">
              <a:spcBef>
                <a:spcPts val="600"/>
              </a:spcBef>
            </a:pPr>
            <a:r>
              <a:rPr lang="en-US" sz="1600" dirty="0"/>
              <a:t>Use square brackets to create substrings [</a:t>
            </a:r>
            <a:r>
              <a:rPr lang="en-US" sz="1600" dirty="0" err="1"/>
              <a:t>start:end</a:t>
            </a:r>
            <a:r>
              <a:rPr lang="en-US" sz="1600" dirty="0"/>
              <a:t>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BA6D7-512B-ABEE-2777-56A402067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31070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fruit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"banana"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upper = </a:t>
            </a:r>
            <a:r>
              <a:rPr lang="en-US" sz="1200" dirty="0" err="1">
                <a:latin typeface="Consolas" panose="020B0609020204030204" pitchFamily="49" charset="0"/>
              </a:rPr>
              <a:t>fruit.upper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(upper)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fruits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"apple banana orange"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f_Split</a:t>
            </a:r>
            <a:r>
              <a:rPr lang="en-US" sz="1200" dirty="0">
                <a:latin typeface="Consolas" panose="020B0609020204030204" pitchFamily="49" charset="0"/>
              </a:rPr>
              <a:t> = </a:t>
            </a:r>
            <a:r>
              <a:rPr lang="en-US" sz="1200" dirty="0" err="1">
                <a:latin typeface="Consolas" panose="020B0609020204030204" pitchFamily="49" charset="0"/>
              </a:rPr>
              <a:t>fruits.split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# returns a list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f_split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"an"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fruit: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"We found it!!!"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sub = fruit[2:5]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begin_sub</a:t>
            </a:r>
            <a:r>
              <a:rPr lang="en-US" sz="1200" dirty="0">
                <a:latin typeface="Consolas" panose="020B0609020204030204" pitchFamily="49" charset="0"/>
              </a:rPr>
              <a:t> = fruit[:3]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 err="1">
                <a:latin typeface="Consolas" panose="020B0609020204030204" pitchFamily="49" charset="0"/>
              </a:rPr>
              <a:t>end_sub</a:t>
            </a:r>
            <a:r>
              <a:rPr lang="en-US" sz="1200" dirty="0">
                <a:latin typeface="Consolas" panose="020B0609020204030204" pitchFamily="49" charset="0"/>
              </a:rPr>
              <a:t> = fruit[2:]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(sub)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begin_sub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end_sub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 descr="Output of the code here.">
            <a:extLst>
              <a:ext uri="{FF2B5EF4-FFF2-40B4-BE49-F238E27FC236}">
                <a16:creationId xmlns:a16="http://schemas.microsoft.com/office/drawing/2014/main" id="{96B5BCC7-60C2-93A1-32F2-AEF7BE80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577" y="4454611"/>
            <a:ext cx="3436847" cy="198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2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3BF77E-8676-B59B-93F0-A890C43E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Grocery List with Lists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AE062-5511-7051-133E-471C5ADD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make a program that we can make a grocery list</a:t>
            </a:r>
          </a:p>
          <a:p>
            <a:pPr lvl="1"/>
            <a:r>
              <a:rPr lang="en-US" dirty="0"/>
              <a:t>Add to it</a:t>
            </a:r>
          </a:p>
          <a:p>
            <a:pPr lvl="1"/>
            <a:r>
              <a:rPr lang="en-US" dirty="0"/>
              <a:t>Delete from it</a:t>
            </a:r>
          </a:p>
          <a:p>
            <a:pPr lvl="1"/>
            <a:r>
              <a:rPr lang="en-US" dirty="0"/>
              <a:t>Exit out</a:t>
            </a:r>
          </a:p>
        </p:txBody>
      </p:sp>
    </p:spTree>
    <p:extLst>
      <p:ext uri="{BB962C8B-B14F-4D97-AF65-F5344CB8AC3E}">
        <p14:creationId xmlns:p14="http://schemas.microsoft.com/office/powerpoint/2010/main" val="948905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7130-284B-3FAA-0AA9-A2CCBABA2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7459-D47A-C5F6-F6DB-862347DC4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702" y="1645251"/>
            <a:ext cx="5426676" cy="4465166"/>
          </a:xfrm>
        </p:spPr>
        <p:txBody>
          <a:bodyPr>
            <a:noAutofit/>
          </a:bodyPr>
          <a:lstStyle/>
          <a:p>
            <a:r>
              <a:rPr lang="en-US" sz="1600" dirty="0"/>
              <a:t>Dictionaries are similar to a list but they aren’t in any set order, they are just stored as key-value pairs</a:t>
            </a:r>
          </a:p>
          <a:p>
            <a:pPr lvl="1"/>
            <a:r>
              <a:rPr lang="en-US" sz="1400" dirty="0"/>
              <a:t>The key can be any type – string, number, etc. – but used to find the data, like an index</a:t>
            </a:r>
          </a:p>
          <a:p>
            <a:pPr lvl="1"/>
            <a:r>
              <a:rPr lang="en-US" sz="1400" dirty="0"/>
              <a:t>The value is any data</a:t>
            </a:r>
          </a:p>
          <a:p>
            <a:r>
              <a:rPr lang="en-US" sz="1600" dirty="0"/>
              <a:t>When adding elements you simply use the [ ] to add the value store at the key location</a:t>
            </a:r>
          </a:p>
          <a:p>
            <a:pPr lvl="1"/>
            <a:r>
              <a:rPr lang="en-US" sz="1400" dirty="0"/>
              <a:t>Be careful as you can only have one key per dictionary so if you think you are adding but the key already exists, you are overwriting data</a:t>
            </a:r>
          </a:p>
          <a:p>
            <a:pPr lvl="1"/>
            <a:r>
              <a:rPr lang="en-US" sz="1400" dirty="0"/>
              <a:t>Use the “in” operator to check if a key is already in a dictionary</a:t>
            </a:r>
          </a:p>
          <a:p>
            <a:r>
              <a:rPr lang="en-US" sz="1600" dirty="0"/>
              <a:t>You use the square brackets [] to access the data or the get() function</a:t>
            </a:r>
          </a:p>
          <a:p>
            <a:pPr lvl="1"/>
            <a:r>
              <a:rPr lang="en-US" sz="1400" dirty="0"/>
              <a:t>[ ] can throw error if key doesn’t exist – so be careful, use the in operator</a:t>
            </a:r>
          </a:p>
          <a:p>
            <a:pPr lvl="1"/>
            <a:r>
              <a:rPr lang="en-US" sz="1400" dirty="0"/>
              <a:t>get() will not throw an exception and instead return a default value if doesn’t exist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0ABB6-408A-2E82-84CE-2A298AE01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0690" y="124897"/>
            <a:ext cx="6121288" cy="5441821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user1 = {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"Lucas"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"lhartman@mccneb.edu"</a:t>
            </a: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user2 = {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"Michael"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"mmyers@mccneb.edu"</a:t>
            </a: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user1[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]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"lhartman2@mccneb.edu"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(user1)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(user2)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users =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users[253] = {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"Lucas"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"lhartman@mccneb.edu"</a:t>
            </a: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users[425] = {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"Michael"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"mmyers@mccneb.edu"</a:t>
            </a: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users[815] = {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"Tony"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"tstark@mccneb.edu"</a:t>
            </a:r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user = </a:t>
            </a:r>
            <a:r>
              <a:rPr lang="en-US" sz="1200" dirty="0" err="1">
                <a:latin typeface="Consolas" panose="020B0609020204030204" pitchFamily="49" charset="0"/>
              </a:rPr>
              <a:t>users.get</a:t>
            </a:r>
            <a:r>
              <a:rPr lang="en-US" sz="1200" dirty="0">
                <a:latin typeface="Consolas" panose="020B0609020204030204" pitchFamily="49" charset="0"/>
              </a:rPr>
              <a:t>(253)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 user: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user[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latin typeface="Consolas" panose="020B0609020204030204" pitchFamily="49" charset="0"/>
              </a:rPr>
              <a:t>] 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"lhartman2@mccneb.edu"</a:t>
            </a:r>
            <a:endParaRPr lang="en-US" sz="12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(users)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5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key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users: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(key)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key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users: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 (users[key])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latin typeface="Consolas" panose="020B0609020204030204" pitchFamily="49" charset="0"/>
              </a:rPr>
              <a:t> key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sz="1200" dirty="0">
                <a:latin typeface="Consolas" panose="020B0609020204030204" pitchFamily="49" charset="0"/>
              </a:rPr>
              <a:t> users: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latin typeface="Consolas" panose="020B0609020204030204" pitchFamily="49" charset="0"/>
              </a:rPr>
              <a:t> users[key][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"name"</a:t>
            </a:r>
            <a:r>
              <a:rPr lang="en-US" sz="1200" dirty="0">
                <a:latin typeface="Consolas" panose="020B0609020204030204" pitchFamily="49" charset="0"/>
              </a:rPr>
              <a:t>] ==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"Tony"</a:t>
            </a:r>
            <a:r>
              <a:rPr lang="en-US" sz="1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"Found Tony!!"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Picture 5" descr="Output of the example code.">
            <a:extLst>
              <a:ext uri="{FF2B5EF4-FFF2-40B4-BE49-F238E27FC236}">
                <a16:creationId xmlns:a16="http://schemas.microsoft.com/office/drawing/2014/main" id="{7FE3F024-98C1-4CD6-7080-3A9B6E4C7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1"/>
          <a:stretch>
            <a:fillRect/>
          </a:stretch>
        </p:blipFill>
        <p:spPr>
          <a:xfrm>
            <a:off x="6792099" y="4807447"/>
            <a:ext cx="4985950" cy="199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33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08B1-D3D5-1817-72A7-89C84275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Example – Grocery List with </a:t>
            </a:r>
            <a:r>
              <a:rPr lang="en-US" dirty="0" err="1"/>
              <a:t>Dict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F28D-405B-7574-80A6-5E91B122B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do the same thing for our grocery list system, except use dictionaries</a:t>
            </a:r>
          </a:p>
          <a:p>
            <a:pPr lvl="1"/>
            <a:r>
              <a:rPr lang="en-US" dirty="0"/>
              <a:t>Add to</a:t>
            </a:r>
          </a:p>
          <a:p>
            <a:pPr lvl="1"/>
            <a:r>
              <a:rPr lang="en-US" dirty="0"/>
              <a:t>View</a:t>
            </a:r>
          </a:p>
          <a:p>
            <a:pPr lvl="1"/>
            <a:r>
              <a:rPr lang="en-US" dirty="0"/>
              <a:t>Delete from</a:t>
            </a:r>
          </a:p>
          <a:p>
            <a:pPr lvl="1"/>
            <a:r>
              <a:rPr lang="en-US" dirty="0"/>
              <a:t>Quantity of item? </a:t>
            </a:r>
          </a:p>
          <a:p>
            <a:pPr lvl="1"/>
            <a:r>
              <a:rPr lang="en-US" dirty="0"/>
              <a:t>List of dictionaries for each item?</a:t>
            </a:r>
          </a:p>
        </p:txBody>
      </p:sp>
    </p:spTree>
    <p:extLst>
      <p:ext uri="{BB962C8B-B14F-4D97-AF65-F5344CB8AC3E}">
        <p14:creationId xmlns:p14="http://schemas.microsoft.com/office/powerpoint/2010/main" val="1368804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F59A-B774-3431-175B-5F859A18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an 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7A61D-1940-7F65-89CA-427F6FB75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134516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447E-1DDD-0C2B-D8E8-D05CB5F4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debugging?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9F9E-57A3-8699-2DE2-5B618F2E2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49149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Debugging helps you watch your code execute step-by-step instead of guessing where it fails</a:t>
            </a:r>
          </a:p>
          <a:p>
            <a:r>
              <a:rPr lang="en-US" dirty="0"/>
              <a:t>It lets you see variable values in real time, find logical errors and confirm code flow</a:t>
            </a:r>
          </a:p>
          <a:p>
            <a:r>
              <a:rPr lang="en-US" dirty="0"/>
              <a:t>Thing of it as slow motion mode for your program</a:t>
            </a:r>
          </a:p>
          <a:p>
            <a:r>
              <a:rPr lang="en-US" dirty="0"/>
              <a:t>To debug you must set breakpoints by clicking next to a line number</a:t>
            </a:r>
          </a:p>
          <a:p>
            <a:r>
              <a:rPr lang="en-US" dirty="0"/>
              <a:t>Breakpoints pause your program at a specific line before it executes</a:t>
            </a:r>
          </a:p>
          <a:p>
            <a:pPr lvl="1"/>
            <a:r>
              <a:rPr lang="en-US" dirty="0"/>
              <a:t>Inspect variables</a:t>
            </a:r>
          </a:p>
          <a:p>
            <a:pPr lvl="1"/>
            <a:r>
              <a:rPr lang="en-US" dirty="0"/>
              <a:t>Verify that a loop or condition runs as expected</a:t>
            </a:r>
          </a:p>
          <a:p>
            <a:pPr lvl="1"/>
            <a:r>
              <a:rPr lang="en-US" dirty="0"/>
              <a:t>Stop before an error occurs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88B694-254E-3B83-033C-C17452CC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28" y="1898168"/>
            <a:ext cx="4983330" cy="281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65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52A8-2364-3B55-A63E-827AF7F0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Debugger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5457-E9E1-45BD-0166-F3C72FBBB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Continue(Resume) – Runs the program until the next breakpoint.</a:t>
            </a:r>
          </a:p>
          <a:p>
            <a:r>
              <a:rPr lang="en-US" dirty="0"/>
              <a:t>Step Over – Executes the current line without entering functions.</a:t>
            </a:r>
          </a:p>
          <a:p>
            <a:r>
              <a:rPr lang="en-US" dirty="0"/>
              <a:t>Step Into – Jumps into the function being called to debug its code line-by-line.</a:t>
            </a:r>
          </a:p>
          <a:p>
            <a:r>
              <a:rPr lang="en-US" dirty="0"/>
              <a:t>Step Out – Runs the rest of the current function and returns to the caller.</a:t>
            </a:r>
          </a:p>
          <a:p>
            <a:r>
              <a:rPr lang="en-US" dirty="0"/>
              <a:t>Stop/Terminate – Ends debugging immediately.</a:t>
            </a:r>
          </a:p>
          <a:p>
            <a:r>
              <a:rPr lang="en-US" dirty="0"/>
              <a:t>Restart – Restarts the program from the beginning</a:t>
            </a:r>
          </a:p>
        </p:txBody>
      </p:sp>
    </p:spTree>
    <p:extLst>
      <p:ext uri="{BB962C8B-B14F-4D97-AF65-F5344CB8AC3E}">
        <p14:creationId xmlns:p14="http://schemas.microsoft.com/office/powerpoint/2010/main" val="333001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3020</Words>
  <Application>Microsoft Office PowerPoint</Application>
  <PresentationFormat>Widescreen</PresentationFormat>
  <Paragraphs>412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Adobe Garamond Pro</vt:lpstr>
      <vt:lpstr>Arial</vt:lpstr>
      <vt:lpstr>Calibri</vt:lpstr>
      <vt:lpstr>Consolas</vt:lpstr>
      <vt:lpstr>Courier New</vt:lpstr>
      <vt:lpstr>Intro Bold</vt:lpstr>
      <vt:lpstr>Intro Light</vt:lpstr>
      <vt:lpstr>Wingdings</vt:lpstr>
      <vt:lpstr>Office Theme</vt:lpstr>
      <vt:lpstr>Python Review</vt:lpstr>
      <vt:lpstr>Output</vt:lpstr>
      <vt:lpstr>Variables</vt:lpstr>
      <vt:lpstr>Input and Casting</vt:lpstr>
      <vt:lpstr>Displaying variables</vt:lpstr>
      <vt:lpstr>Math Operations</vt:lpstr>
      <vt:lpstr>Conditionals – if/else</vt:lpstr>
      <vt:lpstr>Coding Example – Simple Calculator</vt:lpstr>
      <vt:lpstr>While Loops</vt:lpstr>
      <vt:lpstr>For Loops</vt:lpstr>
      <vt:lpstr>Functions</vt:lpstr>
      <vt:lpstr>Coding Example – Simple Calc better</vt:lpstr>
      <vt:lpstr>Lists</vt:lpstr>
      <vt:lpstr>Strings and their methods</vt:lpstr>
      <vt:lpstr>Coding Example – Grocery List with Lists</vt:lpstr>
      <vt:lpstr>Dictionaries</vt:lpstr>
      <vt:lpstr>Coding Example – Grocery List with Dict</vt:lpstr>
      <vt:lpstr>Debugging in an IDE</vt:lpstr>
      <vt:lpstr>What is debugging?</vt:lpstr>
      <vt:lpstr>Common Debugger Controls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27</cp:revision>
  <dcterms:created xsi:type="dcterms:W3CDTF">2022-06-09T19:09:31Z</dcterms:created>
  <dcterms:modified xsi:type="dcterms:W3CDTF">2026-04-16T19:39:55Z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