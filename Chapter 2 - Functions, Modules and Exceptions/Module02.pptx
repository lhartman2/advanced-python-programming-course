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33"/>
  </p:notesMasterIdLst>
  <p:sldIdLst>
    <p:sldId id="256" r:id="rId6"/>
    <p:sldId id="273" r:id="rId7"/>
    <p:sldId id="274" r:id="rId8"/>
    <p:sldId id="275" r:id="rId9"/>
    <p:sldId id="297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95" r:id="rId21"/>
    <p:sldId id="296" r:id="rId22"/>
    <p:sldId id="298" r:id="rId23"/>
    <p:sldId id="288" r:id="rId24"/>
    <p:sldId id="286" r:id="rId25"/>
    <p:sldId id="287" r:id="rId26"/>
    <p:sldId id="289" r:id="rId27"/>
    <p:sldId id="290" r:id="rId28"/>
    <p:sldId id="291" r:id="rId29"/>
    <p:sldId id="292" r:id="rId30"/>
    <p:sldId id="293" r:id="rId31"/>
    <p:sldId id="29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0000"/>
    <a:srgbClr val="007CBD"/>
    <a:srgbClr val="00AEEF"/>
    <a:srgbClr val="00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5210A-A4EC-4065-927A-452C015ACFD6}" v="22" dt="2025-11-10T17:10:46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79075" autoAdjust="0"/>
  </p:normalViewPr>
  <p:slideViewPr>
    <p:cSldViewPr snapToGrid="0">
      <p:cViewPr varScale="1">
        <p:scale>
          <a:sx n="87" d="100"/>
          <a:sy n="87" d="100"/>
        </p:scale>
        <p:origin x="70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man, Lucas" userId="54df504d-6b26-4972-93dd-c21e09d4490b" providerId="ADAL" clId="{DA797BB2-F189-4808-BF03-EC6D040664BC}"/>
    <pc:docChg chg="undo redo custSel addSld delSld modSld sldOrd">
      <pc:chgData name="Hartman, Lucas" userId="54df504d-6b26-4972-93dd-c21e09d4490b" providerId="ADAL" clId="{DA797BB2-F189-4808-BF03-EC6D040664BC}" dt="2025-11-10T22:43:37.431" v="25625" actId="108"/>
      <pc:docMkLst>
        <pc:docMk/>
      </pc:docMkLst>
      <pc:sldChg chg="modSp new mod">
        <pc:chgData name="Hartman, Lucas" userId="54df504d-6b26-4972-93dd-c21e09d4490b" providerId="ADAL" clId="{DA797BB2-F189-4808-BF03-EC6D040664BC}" dt="2025-11-10T17:09:24.313" v="25283" actId="20577"/>
        <pc:sldMkLst>
          <pc:docMk/>
          <pc:sldMk cId="2705731460" sldId="274"/>
        </pc:sldMkLst>
        <pc:spChg chg="mod">
          <ac:chgData name="Hartman, Lucas" userId="54df504d-6b26-4972-93dd-c21e09d4490b" providerId="ADAL" clId="{DA797BB2-F189-4808-BF03-EC6D040664BC}" dt="2025-11-10T17:09:24.313" v="25283" actId="20577"/>
          <ac:spMkLst>
            <pc:docMk/>
            <pc:sldMk cId="2705731460" sldId="274"/>
            <ac:spMk id="3" creationId="{E93AA727-77DE-7A5A-3B02-049DF9F96B3B}"/>
          </ac:spMkLst>
        </pc:spChg>
        <pc:spChg chg="mod">
          <ac:chgData name="Hartman, Lucas" userId="54df504d-6b26-4972-93dd-c21e09d4490b" providerId="ADAL" clId="{DA797BB2-F189-4808-BF03-EC6D040664BC}" dt="2025-10-27T20:57:20.759" v="25267" actId="207"/>
          <ac:spMkLst>
            <pc:docMk/>
            <pc:sldMk cId="2705731460" sldId="274"/>
            <ac:spMk id="4" creationId="{C467AF61-64E5-71D7-A5B0-82464C72F245}"/>
          </ac:spMkLst>
        </pc:spChg>
      </pc:sldChg>
      <pc:sldChg chg="modSp mod">
        <pc:chgData name="Hartman, Lucas" userId="54df504d-6b26-4972-93dd-c21e09d4490b" providerId="ADAL" clId="{DA797BB2-F189-4808-BF03-EC6D040664BC}" dt="2025-11-10T17:12:14.744" v="25307" actId="14100"/>
        <pc:sldMkLst>
          <pc:docMk/>
          <pc:sldMk cId="4233424285" sldId="275"/>
        </pc:sldMkLst>
        <pc:spChg chg="mod">
          <ac:chgData name="Hartman, Lucas" userId="54df504d-6b26-4972-93dd-c21e09d4490b" providerId="ADAL" clId="{DA797BB2-F189-4808-BF03-EC6D040664BC}" dt="2025-11-10T17:12:14.744" v="25307" actId="14100"/>
          <ac:spMkLst>
            <pc:docMk/>
            <pc:sldMk cId="4233424285" sldId="275"/>
            <ac:spMk id="3" creationId="{CBEF2A7D-6CB3-052E-3B37-A33DE5A5E513}"/>
          </ac:spMkLst>
        </pc:spChg>
        <pc:spChg chg="mod">
          <ac:chgData name="Hartman, Lucas" userId="54df504d-6b26-4972-93dd-c21e09d4490b" providerId="ADAL" clId="{DA797BB2-F189-4808-BF03-EC6D040664BC}" dt="2025-11-10T17:11:57.576" v="25306" actId="108"/>
          <ac:spMkLst>
            <pc:docMk/>
            <pc:sldMk cId="4233424285" sldId="275"/>
            <ac:spMk id="4" creationId="{1E7AE167-E57C-6641-E44B-1EFD520831B0}"/>
          </ac:spMkLst>
        </pc:spChg>
      </pc:sldChg>
      <pc:sldChg chg="modSp mod">
        <pc:chgData name="Hartman, Lucas" userId="54df504d-6b26-4972-93dd-c21e09d4490b" providerId="ADAL" clId="{DA797BB2-F189-4808-BF03-EC6D040664BC}" dt="2025-11-10T18:15:13.040" v="25442" actId="20577"/>
        <pc:sldMkLst>
          <pc:docMk/>
          <pc:sldMk cId="3367385405" sldId="276"/>
        </pc:sldMkLst>
        <pc:spChg chg="mod">
          <ac:chgData name="Hartman, Lucas" userId="54df504d-6b26-4972-93dd-c21e09d4490b" providerId="ADAL" clId="{DA797BB2-F189-4808-BF03-EC6D040664BC}" dt="2025-11-10T18:15:13.040" v="25442" actId="20577"/>
          <ac:spMkLst>
            <pc:docMk/>
            <pc:sldMk cId="3367385405" sldId="276"/>
            <ac:spMk id="2" creationId="{9C648B39-2B83-26A3-A4BB-6B43FABA3200}"/>
          </ac:spMkLst>
        </pc:spChg>
      </pc:sldChg>
      <pc:sldChg chg="modSp mod">
        <pc:chgData name="Hartman, Lucas" userId="54df504d-6b26-4972-93dd-c21e09d4490b" providerId="ADAL" clId="{DA797BB2-F189-4808-BF03-EC6D040664BC}" dt="2025-11-10T22:43:37.431" v="25625" actId="108"/>
        <pc:sldMkLst>
          <pc:docMk/>
          <pc:sldMk cId="302815209" sldId="279"/>
        </pc:sldMkLst>
        <pc:spChg chg="mod">
          <ac:chgData name="Hartman, Lucas" userId="54df504d-6b26-4972-93dd-c21e09d4490b" providerId="ADAL" clId="{DA797BB2-F189-4808-BF03-EC6D040664BC}" dt="2025-11-10T22:43:37.431" v="25625" actId="108"/>
          <ac:spMkLst>
            <pc:docMk/>
            <pc:sldMk cId="302815209" sldId="279"/>
            <ac:spMk id="4" creationId="{8DE7F8D1-0F4A-F472-BBAF-0B35B956529B}"/>
          </ac:spMkLst>
        </pc:spChg>
      </pc:sldChg>
      <pc:sldChg chg="addSp delSp modSp new mod modClrScheme chgLayout">
        <pc:chgData name="Hartman, Lucas" userId="54df504d-6b26-4972-93dd-c21e09d4490b" providerId="ADAL" clId="{DA797BB2-F189-4808-BF03-EC6D040664BC}" dt="2025-11-10T18:37:46.670" v="25568" actId="20577"/>
        <pc:sldMkLst>
          <pc:docMk/>
          <pc:sldMk cId="1614602513" sldId="288"/>
        </pc:sldMkLst>
        <pc:spChg chg="mod ord">
          <ac:chgData name="Hartman, Lucas" userId="54df504d-6b26-4972-93dd-c21e09d4490b" providerId="ADAL" clId="{DA797BB2-F189-4808-BF03-EC6D040664BC}" dt="2025-10-15T19:30:40.735" v="23401" actId="20577"/>
          <ac:spMkLst>
            <pc:docMk/>
            <pc:sldMk cId="1614602513" sldId="288"/>
            <ac:spMk id="2" creationId="{E660093F-3518-5D66-755D-08EC5957310B}"/>
          </ac:spMkLst>
        </pc:spChg>
        <pc:spChg chg="mod">
          <ac:chgData name="Hartman, Lucas" userId="54df504d-6b26-4972-93dd-c21e09d4490b" providerId="ADAL" clId="{DA797BB2-F189-4808-BF03-EC6D040664BC}" dt="2025-11-10T18:37:46.670" v="25568" actId="20577"/>
          <ac:spMkLst>
            <pc:docMk/>
            <pc:sldMk cId="1614602513" sldId="288"/>
            <ac:spMk id="5" creationId="{BEA9F461-2BAE-F8BF-3901-5ABD52947202}"/>
          </ac:spMkLst>
        </pc:spChg>
      </pc:sldChg>
      <pc:sldChg chg="modSp mod">
        <pc:chgData name="Hartman, Lucas" userId="54df504d-6b26-4972-93dd-c21e09d4490b" providerId="ADAL" clId="{DA797BB2-F189-4808-BF03-EC6D040664BC}" dt="2025-11-10T21:23:43.277" v="25623" actId="313"/>
        <pc:sldMkLst>
          <pc:docMk/>
          <pc:sldMk cId="2324407161" sldId="290"/>
        </pc:sldMkLst>
        <pc:spChg chg="mod">
          <ac:chgData name="Hartman, Lucas" userId="54df504d-6b26-4972-93dd-c21e09d4490b" providerId="ADAL" clId="{DA797BB2-F189-4808-BF03-EC6D040664BC}" dt="2025-11-10T21:23:43.277" v="25623" actId="313"/>
          <ac:spMkLst>
            <pc:docMk/>
            <pc:sldMk cId="2324407161" sldId="290"/>
            <ac:spMk id="2" creationId="{8299685D-452C-2463-A81F-37A03F47CDB5}"/>
          </ac:spMkLst>
        </pc:spChg>
      </pc:sldChg>
      <pc:sldChg chg="modSp new mod">
        <pc:chgData name="Hartman, Lucas" userId="54df504d-6b26-4972-93dd-c21e09d4490b" providerId="ADAL" clId="{DA797BB2-F189-4808-BF03-EC6D040664BC}" dt="2025-11-10T22:42:56.640" v="25624" actId="108"/>
        <pc:sldMkLst>
          <pc:docMk/>
          <pc:sldMk cId="2744683361" sldId="293"/>
        </pc:sldMkLst>
        <pc:spChg chg="mod">
          <ac:chgData name="Hartman, Lucas" userId="54df504d-6b26-4972-93dd-c21e09d4490b" providerId="ADAL" clId="{DA797BB2-F189-4808-BF03-EC6D040664BC}" dt="2025-11-10T22:42:56.640" v="25624" actId="108"/>
          <ac:spMkLst>
            <pc:docMk/>
            <pc:sldMk cId="2744683361" sldId="293"/>
            <ac:spMk id="4" creationId="{FBF0D2DD-688B-A17C-8D81-4E8F4A33F417}"/>
          </ac:spMkLst>
        </pc:spChg>
      </pc:sldChg>
      <pc:sldChg chg="modSp mod">
        <pc:chgData name="Hartman, Lucas" userId="54df504d-6b26-4972-93dd-c21e09d4490b" providerId="ADAL" clId="{DA797BB2-F189-4808-BF03-EC6D040664BC}" dt="2025-11-10T18:43:12.185" v="25587" actId="20577"/>
        <pc:sldMkLst>
          <pc:docMk/>
          <pc:sldMk cId="3775476934" sldId="294"/>
        </pc:sldMkLst>
        <pc:spChg chg="mod">
          <ac:chgData name="Hartman, Lucas" userId="54df504d-6b26-4972-93dd-c21e09d4490b" providerId="ADAL" clId="{DA797BB2-F189-4808-BF03-EC6D040664BC}" dt="2025-11-10T18:43:12.185" v="25587" actId="20577"/>
          <ac:spMkLst>
            <pc:docMk/>
            <pc:sldMk cId="3775476934" sldId="294"/>
            <ac:spMk id="3" creationId="{3E6704D9-EDF2-3907-2EAB-07DAD7993954}"/>
          </ac:spMkLst>
        </pc:spChg>
      </pc:sldChg>
      <pc:sldChg chg="modSp new mod">
        <pc:chgData name="Hartman, Lucas" userId="54df504d-6b26-4972-93dd-c21e09d4490b" providerId="ADAL" clId="{DA797BB2-F189-4808-BF03-EC6D040664BC}" dt="2025-10-15T19:30:56.640" v="23427" actId="20577"/>
        <pc:sldMkLst>
          <pc:docMk/>
          <pc:sldMk cId="2014635073" sldId="295"/>
        </pc:sldMkLst>
        <pc:spChg chg="mod">
          <ac:chgData name="Hartman, Lucas" userId="54df504d-6b26-4972-93dd-c21e09d4490b" providerId="ADAL" clId="{DA797BB2-F189-4808-BF03-EC6D040664BC}" dt="2025-10-15T19:30:50.297" v="23412" actId="20577"/>
          <ac:spMkLst>
            <pc:docMk/>
            <pc:sldMk cId="2014635073" sldId="295"/>
            <ac:spMk id="2" creationId="{95B58229-DE86-889A-AEDC-798430A8C70C}"/>
          </ac:spMkLst>
        </pc:spChg>
        <pc:spChg chg="mod">
          <ac:chgData name="Hartman, Lucas" userId="54df504d-6b26-4972-93dd-c21e09d4490b" providerId="ADAL" clId="{DA797BB2-F189-4808-BF03-EC6D040664BC}" dt="2025-10-15T19:30:56.640" v="23427" actId="20577"/>
          <ac:spMkLst>
            <pc:docMk/>
            <pc:sldMk cId="2014635073" sldId="295"/>
            <ac:spMk id="3" creationId="{E6E13565-477A-5C9E-00B3-B6D2C545EF4C}"/>
          </ac:spMkLst>
        </pc:spChg>
      </pc:sldChg>
      <pc:sldChg chg="addSp modSp new mod">
        <pc:chgData name="Hartman, Lucas" userId="54df504d-6b26-4972-93dd-c21e09d4490b" providerId="ADAL" clId="{DA797BB2-F189-4808-BF03-EC6D040664BC}" dt="2025-10-15T19:40:10.944" v="24623" actId="1076"/>
        <pc:sldMkLst>
          <pc:docMk/>
          <pc:sldMk cId="4080266228" sldId="296"/>
        </pc:sldMkLst>
        <pc:spChg chg="mod">
          <ac:chgData name="Hartman, Lucas" userId="54df504d-6b26-4972-93dd-c21e09d4490b" providerId="ADAL" clId="{DA797BB2-F189-4808-BF03-EC6D040664BC}" dt="2025-10-15T19:38:08.008" v="24286" actId="20577"/>
          <ac:spMkLst>
            <pc:docMk/>
            <pc:sldMk cId="4080266228" sldId="296"/>
            <ac:spMk id="2" creationId="{DF9ABF41-C79F-9920-0D71-FA544673870A}"/>
          </ac:spMkLst>
        </pc:spChg>
        <pc:spChg chg="mod">
          <ac:chgData name="Hartman, Lucas" userId="54df504d-6b26-4972-93dd-c21e09d4490b" providerId="ADAL" clId="{DA797BB2-F189-4808-BF03-EC6D040664BC}" dt="2025-10-15T19:39:27.660" v="24609" actId="139"/>
          <ac:spMkLst>
            <pc:docMk/>
            <pc:sldMk cId="4080266228" sldId="296"/>
            <ac:spMk id="3" creationId="{433920DD-D56C-04DA-D53D-739971A6C7E8}"/>
          </ac:spMkLst>
        </pc:spChg>
        <pc:spChg chg="mod">
          <ac:chgData name="Hartman, Lucas" userId="54df504d-6b26-4972-93dd-c21e09d4490b" providerId="ADAL" clId="{DA797BB2-F189-4808-BF03-EC6D040664BC}" dt="2025-10-15T19:39:59.053" v="24619" actId="2711"/>
          <ac:spMkLst>
            <pc:docMk/>
            <pc:sldMk cId="4080266228" sldId="296"/>
            <ac:spMk id="4" creationId="{58295CD1-2F17-0D00-D3CF-4673429197AB}"/>
          </ac:spMkLst>
        </pc:spChg>
        <pc:picChg chg="add mod">
          <ac:chgData name="Hartman, Lucas" userId="54df504d-6b26-4972-93dd-c21e09d4490b" providerId="ADAL" clId="{DA797BB2-F189-4808-BF03-EC6D040664BC}" dt="2025-10-15T19:40:10.944" v="24623" actId="1076"/>
          <ac:picMkLst>
            <pc:docMk/>
            <pc:sldMk cId="4080266228" sldId="296"/>
            <ac:picMk id="5" creationId="{C464234F-4CB7-8B71-D536-451931069BB9}"/>
          </ac:picMkLst>
        </pc:picChg>
      </pc:sldChg>
      <pc:sldChg chg="modSp new mod modNotesTx">
        <pc:chgData name="Hartman, Lucas" userId="54df504d-6b26-4972-93dd-c21e09d4490b" providerId="ADAL" clId="{DA797BB2-F189-4808-BF03-EC6D040664BC}" dt="2025-11-10T18:14:50.572" v="25434" actId="20577"/>
        <pc:sldMkLst>
          <pc:docMk/>
          <pc:sldMk cId="740846127" sldId="297"/>
        </pc:sldMkLst>
        <pc:spChg chg="mod">
          <ac:chgData name="Hartman, Lucas" userId="54df504d-6b26-4972-93dd-c21e09d4490b" providerId="ADAL" clId="{DA797BB2-F189-4808-BF03-EC6D040664BC}" dt="2025-10-15T19:31:25.704" v="23452" actId="20577"/>
          <ac:spMkLst>
            <pc:docMk/>
            <pc:sldMk cId="740846127" sldId="297"/>
            <ac:spMk id="2" creationId="{DFD0562D-469E-5574-B454-09649EA172B0}"/>
          </ac:spMkLst>
        </pc:spChg>
        <pc:spChg chg="mod">
          <ac:chgData name="Hartman, Lucas" userId="54df504d-6b26-4972-93dd-c21e09d4490b" providerId="ADAL" clId="{DA797BB2-F189-4808-BF03-EC6D040664BC}" dt="2025-11-10T18:14:17.947" v="25308" actId="20577"/>
          <ac:spMkLst>
            <pc:docMk/>
            <pc:sldMk cId="740846127" sldId="297"/>
            <ac:spMk id="3" creationId="{A967B224-5884-DFB7-0A5F-14EE3CE6C6E5}"/>
          </ac:spMkLst>
        </pc:spChg>
        <pc:spChg chg="mod">
          <ac:chgData name="Hartman, Lucas" userId="54df504d-6b26-4972-93dd-c21e09d4490b" providerId="ADAL" clId="{DA797BB2-F189-4808-BF03-EC6D040664BC}" dt="2025-10-15T19:37:31.872" v="24261" actId="20577"/>
          <ac:spMkLst>
            <pc:docMk/>
            <pc:sldMk cId="740846127" sldId="297"/>
            <ac:spMk id="4" creationId="{7ADB9FE8-EB29-5D93-F05A-DAF08535289F}"/>
          </ac:spMkLst>
        </pc:spChg>
      </pc:sldChg>
      <pc:sldChg chg="modSp new mod">
        <pc:chgData name="Hartman, Lucas" userId="54df504d-6b26-4972-93dd-c21e09d4490b" providerId="ADAL" clId="{DA797BB2-F189-4808-BF03-EC6D040664BC}" dt="2025-10-15T19:42:42.236" v="25262" actId="1076"/>
        <pc:sldMkLst>
          <pc:docMk/>
          <pc:sldMk cId="255516127" sldId="298"/>
        </pc:sldMkLst>
        <pc:spChg chg="mod">
          <ac:chgData name="Hartman, Lucas" userId="54df504d-6b26-4972-93dd-c21e09d4490b" providerId="ADAL" clId="{DA797BB2-F189-4808-BF03-EC6D040664BC}" dt="2025-10-15T19:40:27.904" v="24650" actId="20577"/>
          <ac:spMkLst>
            <pc:docMk/>
            <pc:sldMk cId="255516127" sldId="298"/>
            <ac:spMk id="2" creationId="{E54E51C4-61B7-88EB-1924-EE140529D386}"/>
          </ac:spMkLst>
        </pc:spChg>
        <pc:spChg chg="mod">
          <ac:chgData name="Hartman, Lucas" userId="54df504d-6b26-4972-93dd-c21e09d4490b" providerId="ADAL" clId="{DA797BB2-F189-4808-BF03-EC6D040664BC}" dt="2025-10-15T19:42:37.130" v="25260" actId="403"/>
          <ac:spMkLst>
            <pc:docMk/>
            <pc:sldMk cId="255516127" sldId="298"/>
            <ac:spMk id="3" creationId="{4E1FA91D-2812-95F5-42C7-BDFA8569BA52}"/>
          </ac:spMkLst>
        </pc:spChg>
        <pc:spChg chg="mod">
          <ac:chgData name="Hartman, Lucas" userId="54df504d-6b26-4972-93dd-c21e09d4490b" providerId="ADAL" clId="{DA797BB2-F189-4808-BF03-EC6D040664BC}" dt="2025-10-15T19:42:42.236" v="25262" actId="1076"/>
          <ac:spMkLst>
            <pc:docMk/>
            <pc:sldMk cId="255516127" sldId="298"/>
            <ac:spMk id="4" creationId="{B313A0D5-D275-1577-8AFF-D35F0EDD18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1560-1929-4DD1-94DC-AC1181AC876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442A3-8FE8-41A5-941B-C64E68CC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comes from typing class in python 3.10 and older.  That is why you should have 3.11 and newer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91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random()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returns a random float number between 0 and 1.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uniform(a, b)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returns a random float number between ‘a’ and ‘b’ values.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randrange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(a, b, c)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returns a random number between ‘a’ and ‘b’ using ‘c’ as a step value.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randint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(a, b)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returns a random number between ‘a’ and ‘b’ values.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choice(sequence)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returns a random element from the given sequence.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choices(sequence, weight,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returned_length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returns a list with a random selection from the given sequence. You can give weight of choosing and length of list being returned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sample(sequence, length)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returns a list that contains ‘length’ defined elements from the sequence.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shuffle(sequence)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randomly shuffles items in the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os.name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current operating system name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getcwd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returns current working directory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path.join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automatically uses the correct path separator for the OS it’s running on (“/” for Unix based and “\” for Windows)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path.exists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(path)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used to determine if a specified ‘path’ exists in the file system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path.isdir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used to determine if a specified ‘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exists in the file system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path.isfile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(path)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used to determine if a given ‘path’ refers to an existing regular file.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makedirs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used to make a directory(folder) on the operating system at the given ‘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’. Optional parameter of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exist_ok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default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directory already exists then an exception is thrown. If set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exception thrown and function simply proceeds without creating the directory again.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99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datetime.now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gets the current date and time from the operating system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date.today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gets the current date from the operating system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datetime(year, month, day, hours, minutes, seconds)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creates a datetime object with the parameter values sent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date(year, month, day)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creates a date object with the parameter values sent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timedelta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(days=#, seconds=#, minutes=#, hours=#, weeks=#)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used to perform arithmetic operations with datetime and date objects. Use keyword arguments to assign parameters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strftime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(“%Y-%m-%d %H:%M”)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used to format a datetime object into a string according to specified format code. Example above in parenthesis.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strptime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(stamp, “%Y-%m-%d %H:%M”)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used to parse a string representation of a date and time into a datetime object. Takes on a string format of time stamp then uses the given format to parse.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Year with century – 2025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Year without century – 25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Month as a zero-padded number – 01, 02…12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Abbreviated month name – Jan, Feb, etc.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Full month name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Day of the month as a zero-padded number – 01, 02…31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Hour in 24 hour format – 00 – 23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Hour in 12 clock, zero padded – 01-12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Second zero padded – 00-59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abbreviated weekday name – Sun, Mon, etc.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Full weekday name – Sunday, Monday, etc.</a:t>
            </a:r>
            <a:endParaRPr lang="en-US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19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13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don’t need to have a try/except block for each single line. Sometimes you may want to combine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6BEE7-CAF5-419F-B16A-DEA80DCA68C3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690CF-4A08-4FE7-BE90-E14D6CFC9B7C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5FFE8-97A3-4F5F-B323-571FCA8DA25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66700" y="1381734"/>
            <a:ext cx="11658600" cy="22336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608D-1BF4-455A-946A-5F936FD81A7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66700" y="3777270"/>
            <a:ext cx="11658600" cy="1023939"/>
          </a:xfrm>
        </p:spPr>
        <p:txBody>
          <a:bodyPr/>
          <a:lstStyle>
            <a:lvl1pPr marL="0" indent="0" algn="ctr">
              <a:buNone/>
              <a:defRPr sz="2400">
                <a:latin typeface="Intro 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A14235-CF7B-4B1F-8B88-31805FAFF4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" y="262414"/>
            <a:ext cx="2810260" cy="76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429FFC-D3C2-4932-826C-C50E9D52BB4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88AC-6FC4-41E4-B0C7-BC3FC6F2F3E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CC8DB-1863-4F46-8C14-8006763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65125"/>
            <a:ext cx="10172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685E-9D55-4AED-80F4-F1B1F64B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B0088-9B57-499E-8905-F9408D880C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76F0B0-52A9-415E-BDDD-6C6AC9110DF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0C7C9-8675-4FB5-9B44-91DC8149DD51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FDE69-FA51-465E-8031-A8B9CE7F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19200"/>
            <a:ext cx="11102975" cy="2362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B05F-FD14-4BF4-8D8D-9CE477E8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08388"/>
            <a:ext cx="111029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Intro Light" panose="020000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3D0E6-F047-498B-A642-C408BE5C51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FF7F9-243E-4243-8C78-D3B003593337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06C3C-002F-458B-89F0-883784178012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5A4B6-0C7A-4D6B-867E-D0A9EB0F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365125"/>
            <a:ext cx="10177272" cy="9493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496E-328F-46FD-AFCD-3EAB7EFC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417A-0498-4636-9802-A1E62C15E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03174-B021-4DE8-B6BC-00313E78F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2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4581DE-391D-4AF5-8AC0-79A5C7D9CDA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D1C13-B2C9-4139-AFC5-3E9E8077C825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137C-739B-4FCC-A7FB-460B8A7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40" y="365125"/>
            <a:ext cx="10177272" cy="950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D8A7-0808-42AF-84B4-C5BF0102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940" y="1681163"/>
            <a:ext cx="48226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779-9E08-4924-91C0-C9E06E97D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940" y="2505075"/>
            <a:ext cx="4822635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7B143-C822-41B4-9130-CB8E044B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681163"/>
            <a:ext cx="51609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A1E92-8D76-489D-BB0C-199AA38F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505075"/>
            <a:ext cx="516096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3B9C88-5804-4FDC-B7F5-BDBD0348E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6F83720-A64F-4A58-A5BC-1B9715C131E0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C010B-9BA1-41E1-BFD8-FDF4E5D30D68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C78A-4AF7-47A5-88E0-BCE915BA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64" y="288512"/>
            <a:ext cx="10177272" cy="3216275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D0358-8763-4DDB-B361-5FDF53D39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68C791-EEDD-4B06-AF1A-8A3BECF65C82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87EE4-BCA2-465C-9B98-91AA0F437DB3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33FBD-37BF-4BD1-87AF-4087E23201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199BC5-9D4E-43BF-A02C-A547194F8182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783CA-063C-4CAD-AFC5-05C976443BF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DC10-A2BD-4783-80A5-23F85CC2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E3B2-2EB5-461B-BEDE-B1DB448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8FA-2A2C-4A53-9A1E-98AAFCCC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98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711EA9-1F10-43CB-AF2C-4754BAEB5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436B1-97C6-4B73-A082-7D78DB820115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AC63-6274-4558-8904-89260A26554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0E9BF-DCE6-44E7-BDFA-FD7C8967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D252-4412-4655-AC19-19A147A1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024B7-B72A-43BE-9C0D-2D8E5C27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8FEA5-8A8C-43A3-9233-939FB64E17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91B9AB-0584-476D-95F0-F190C5DB8D08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B13896-D1FA-4DA8-8DCA-19E54095DED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D7129-1025-4E90-87FB-C88427C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4" y="365125"/>
            <a:ext cx="1017727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73D8-6EB4-40AA-97B0-3A4D8126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02D428-9159-4CB4-9240-9ACF55185B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A756C3-6D05-490B-8E62-1B73F377D00A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9F47A-7580-4E34-8D48-F9E0A7D31B50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C942-A484-454D-A5E8-9ECBA50B0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6C6E-4F31-4C15-8984-CBB6FE027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5850" y="365125"/>
            <a:ext cx="748665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6DD1F-DF46-43B1-9575-0AEF8D9B19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411E7-88B2-420C-9612-DA4AB09C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FCD0-F869-4BB1-B84C-B9435337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5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007CBD"/>
          </a:solidFill>
          <a:latin typeface="Intro Bold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2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60D-668E-44FF-BA61-B56EE8830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Functions, Modules and Exception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2FC2-B1F9-4263-A786-D0159CDB7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Adv. Python Programming – Module 2</a:t>
            </a:r>
          </a:p>
        </p:txBody>
      </p:sp>
    </p:spTree>
    <p:extLst>
      <p:ext uri="{BB962C8B-B14F-4D97-AF65-F5344CB8AC3E}">
        <p14:creationId xmlns:p14="http://schemas.microsoft.com/office/powerpoint/2010/main" val="252053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F672-06BB-855D-317D-A048D3A49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E7B4E-77BA-3E25-9D4F-FFEA7FE03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65854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18956-8B69-B8C9-C0FB-72635B80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and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AA727-77DE-7A5A-3B02-049DF9F96B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Parameters</a:t>
            </a:r>
            <a:r>
              <a:rPr lang="en-US" dirty="0"/>
              <a:t> are the variables that we define in the parenthesis of the function</a:t>
            </a:r>
          </a:p>
          <a:p>
            <a:pPr lvl="1"/>
            <a:r>
              <a:rPr lang="en-US" dirty="0"/>
              <a:t>Receives values to use in the function</a:t>
            </a:r>
          </a:p>
          <a:p>
            <a:pPr lvl="1"/>
            <a:r>
              <a:rPr lang="en-US" dirty="0"/>
              <a:t>You can assign default values to variables making them optional to call</a:t>
            </a:r>
          </a:p>
          <a:p>
            <a:r>
              <a:rPr lang="en-US" b="1" dirty="0"/>
              <a:t>Arguments</a:t>
            </a:r>
            <a:r>
              <a:rPr lang="en-US" dirty="0"/>
              <a:t> are the variables that you send to the function when calling it</a:t>
            </a:r>
          </a:p>
          <a:p>
            <a:pPr lvl="1"/>
            <a:r>
              <a:rPr lang="en-US" dirty="0"/>
              <a:t>These can be positional meaning you match the order from parameters defined</a:t>
            </a:r>
          </a:p>
          <a:p>
            <a:pPr lvl="1"/>
            <a:r>
              <a:rPr lang="en-US" dirty="0"/>
              <a:t>Or you can assign in any order via keyword by listing parameter and “=“ to assign value</a:t>
            </a:r>
          </a:p>
          <a:p>
            <a:r>
              <a:rPr lang="en-US" dirty="0"/>
              <a:t>Values can be passed via </a:t>
            </a:r>
            <a:r>
              <a:rPr lang="en-US" b="1" dirty="0"/>
              <a:t>reference</a:t>
            </a:r>
            <a:r>
              <a:rPr lang="en-US" dirty="0"/>
              <a:t> or by </a:t>
            </a:r>
            <a:r>
              <a:rPr lang="en-US" b="1" dirty="0"/>
              <a:t>assignment</a:t>
            </a:r>
          </a:p>
          <a:p>
            <a:pPr lvl="1"/>
            <a:r>
              <a:rPr lang="en-US" dirty="0"/>
              <a:t>Numbers, strings, tuples are passed by assignment meaning they kind of “copy” the value and send it to the function</a:t>
            </a:r>
          </a:p>
          <a:p>
            <a:pPr lvl="1"/>
            <a:r>
              <a:rPr lang="en-US" dirty="0"/>
              <a:t>Lists, dictionaries, and objects get passed via reference, meaning when you change the values within the function, they get changed in the original object.</a:t>
            </a:r>
          </a:p>
          <a:p>
            <a:pPr lvl="2"/>
            <a:r>
              <a:rPr lang="en-US" dirty="0"/>
              <a:t>Because of this you this you don’t need to return any lists/dictionary/object that you modify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7AF61-64E5-71D7-A5B0-82464C72F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3171" y="1552575"/>
            <a:ext cx="6307822" cy="414337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8C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(name, role):</a:t>
            </a:r>
            <a:endParaRPr lang="en-US" sz="1200" dirty="0"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8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"{name} — {role}"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200" dirty="0"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label(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"Amira"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"Admin"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      </a:t>
            </a:r>
            <a:r>
              <a:rPr lang="en-US" sz="14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positional</a:t>
            </a:r>
            <a:endParaRPr lang="en-US" sz="1200" dirty="0">
              <a:solidFill>
                <a:srgbClr val="FF0000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label(role=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"Admin"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name=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"Amira"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 </a:t>
            </a:r>
            <a:r>
              <a:rPr lang="en-US" sz="140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keyword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FF0000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FF0000"/>
              </a:solidFill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onsolas" panose="020B06090202040302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welcome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(user=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"Guest"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excited=False):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message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1400" b="1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"Welcome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{user}"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excited: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message += 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"!"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message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(welcome())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(welcome(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"Alex"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excited=True))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3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E8CF6-298A-23B5-6FBD-50CE0E1B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900D-1268-81EE-B009-B42C0537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F2A7D-6CB3-052E-3B37-A33DE5A5E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245397"/>
          </a:xfrm>
        </p:spPr>
        <p:txBody>
          <a:bodyPr>
            <a:noAutofit/>
          </a:bodyPr>
          <a:lstStyle/>
          <a:p>
            <a:r>
              <a:rPr lang="en-US" sz="2000" dirty="0"/>
              <a:t>Functions can be void returning</a:t>
            </a:r>
          </a:p>
          <a:p>
            <a:pPr lvl="1"/>
            <a:r>
              <a:rPr lang="en-US" sz="2000" dirty="0"/>
              <a:t>You don’t use the return keyword</a:t>
            </a:r>
          </a:p>
          <a:p>
            <a:pPr lvl="1"/>
            <a:r>
              <a:rPr lang="en-US" sz="2000" dirty="0"/>
              <a:t>Does some calculations/printing/process</a:t>
            </a:r>
          </a:p>
          <a:p>
            <a:pPr lvl="2"/>
            <a:r>
              <a:rPr lang="en-US" sz="1800" dirty="0"/>
              <a:t>Maybe manipulates a list, dictionary, etc.</a:t>
            </a:r>
          </a:p>
          <a:p>
            <a:pPr lvl="2"/>
            <a:r>
              <a:rPr lang="en-US" sz="1800" dirty="0"/>
              <a:t>Maybe prints out a list</a:t>
            </a:r>
          </a:p>
          <a:p>
            <a:r>
              <a:rPr lang="en-US" sz="2000" dirty="0"/>
              <a:t>Functions can return values</a:t>
            </a:r>
          </a:p>
          <a:p>
            <a:pPr lvl="1"/>
            <a:r>
              <a:rPr lang="en-US" sz="2000" dirty="0"/>
              <a:t>Return a single value</a:t>
            </a:r>
          </a:p>
          <a:p>
            <a:pPr lvl="1"/>
            <a:r>
              <a:rPr lang="en-US" sz="2000" dirty="0"/>
              <a:t>Return a tuple that has several values to assign to multiple variables</a:t>
            </a:r>
          </a:p>
          <a:p>
            <a:pPr lvl="2"/>
            <a:r>
              <a:rPr lang="en-US" sz="1800" dirty="0"/>
              <a:t>This is different then just returning a tuple, list, dictionary variable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AE167-E57C-6641-E44B-1EFD52083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008" y="1623882"/>
            <a:ext cx="5677247" cy="434342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add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(a, b):</a:t>
            </a:r>
            <a:endParaRPr lang="en-US" sz="11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 + b)</a:t>
            </a:r>
            <a:endParaRPr lang="en-US" sz="11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>
              <a:solidFill>
                <a:srgbClr val="FF8C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>
              <a:solidFill>
                <a:srgbClr val="FF8C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add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(a, b):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 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 + b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adding = add(4, 3)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Consolas" panose="020B0609020204030204" pitchFamily="49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find_first_even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 in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 % 2 == 0: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None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min_max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(values):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min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(values), </a:t>
            </a:r>
            <a:r>
              <a:rPr lang="en-US" sz="12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max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(values)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find_first_even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([5, 3, 4, 2, 8])  </a:t>
            </a:r>
            <a:r>
              <a:rPr lang="en-US" sz="12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finds ‘4’ as first even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low, high =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min_max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([3, 9, 2, 8]) </a:t>
            </a:r>
            <a:r>
              <a:rPr lang="en-US" sz="12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low as 2, high as 9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42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0562D-469E-5574-B454-09649EA1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7B224-5884-DFB7-0A5F-14EE3CE6C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706" y="1552575"/>
            <a:ext cx="5288280" cy="4265718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800" dirty="0"/>
              <a:t>Python as a language doesn’t require for any explicit data types to be defined</a:t>
            </a:r>
          </a:p>
          <a:p>
            <a:pPr lvl="1"/>
            <a:r>
              <a:rPr lang="en-US" sz="1600" dirty="0"/>
              <a:t>This is why you can set a variable from a number to string to anything</a:t>
            </a:r>
          </a:p>
          <a:p>
            <a:r>
              <a:rPr lang="en-US" sz="1800" dirty="0"/>
              <a:t>But it can be good practice to define parameter and return types in Python</a:t>
            </a:r>
          </a:p>
          <a:p>
            <a:r>
              <a:rPr lang="en-US" sz="1800" dirty="0"/>
              <a:t>This allows for the IDE to give warnings when coding if types are not matching</a:t>
            </a:r>
          </a:p>
          <a:p>
            <a:pPr lvl="1"/>
            <a:r>
              <a:rPr lang="en-US" sz="1600" dirty="0"/>
              <a:t>It doesn’t cause python run time errors</a:t>
            </a:r>
          </a:p>
          <a:p>
            <a:r>
              <a:rPr lang="en-US" sz="1800" dirty="0"/>
              <a:t>For parameters we use a colon followed by the type</a:t>
            </a:r>
          </a:p>
          <a:p>
            <a:r>
              <a:rPr lang="en-US" sz="1800" dirty="0"/>
              <a:t>For function return types we use the arrow </a:t>
            </a:r>
            <a:r>
              <a:rPr lang="en-US" sz="1800" b="1" dirty="0">
                <a:latin typeface="Consolas" panose="020B0609020204030204" pitchFamily="49" charset="0"/>
              </a:rPr>
              <a:t>“-&gt;”</a:t>
            </a:r>
            <a:r>
              <a:rPr lang="en-US" sz="1800" dirty="0"/>
              <a:t> followed by the type</a:t>
            </a:r>
          </a:p>
          <a:p>
            <a:r>
              <a:rPr lang="en-US" sz="1800" dirty="0"/>
              <a:t>Lastly, we have the vertical bar </a:t>
            </a:r>
            <a:r>
              <a:rPr lang="en-US" sz="1800" b="1" dirty="0">
                <a:latin typeface="Consolas" panose="020B0609020204030204" pitchFamily="49" charset="0"/>
              </a:rPr>
              <a:t> | </a:t>
            </a:r>
            <a:r>
              <a:rPr lang="en-US" sz="1800" dirty="0"/>
              <a:t>that acts as an “or” so we can set multiple types/optional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B9FE8-EB29-5D93-F05A-DAF085352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4106" y="1627082"/>
            <a:ext cx="6339840" cy="4143375"/>
          </a:xfrm>
        </p:spPr>
        <p:txBody>
          <a:bodyPr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greet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(name :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age :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14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"Hello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{name}, you are {age} years old."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calculate_total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(price :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tax :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 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 + (price * tax)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0000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0000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add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(a :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b :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 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 + (price * tax)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find_user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(name :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None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...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84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7F0F-2026-1296-C8DD-7042D988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8B39-2B83-26A3-A4BB-6B43FABA3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in Functions -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088EA-1E82-8A0F-AC99-45B749DA94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It is important to understand the scope of a variable</a:t>
            </a:r>
          </a:p>
          <a:p>
            <a:r>
              <a:rPr lang="en-US" dirty="0"/>
              <a:t>Scope is where the variable can be used</a:t>
            </a:r>
          </a:p>
          <a:p>
            <a:pPr lvl="1"/>
            <a:r>
              <a:rPr lang="en-US" dirty="0"/>
              <a:t>If it is created outside of all functions then it is a global variable that can be used throughout all of the code</a:t>
            </a:r>
          </a:p>
          <a:p>
            <a:pPr lvl="1"/>
            <a:r>
              <a:rPr lang="en-US" dirty="0"/>
              <a:t>If you have a variable created inside a function it can only be used within that function</a:t>
            </a:r>
          </a:p>
          <a:p>
            <a:pPr lvl="2"/>
            <a:r>
              <a:rPr lang="en-US" dirty="0"/>
              <a:t>This includes parameters and even if you create variables inside of if statements or loops</a:t>
            </a:r>
          </a:p>
          <a:p>
            <a:r>
              <a:rPr lang="en-US" dirty="0"/>
              <a:t>This can be helpful if you are using the same variable names in functions when one already exists in the ‘global’ scope of the .</a:t>
            </a:r>
            <a:r>
              <a:rPr lang="en-US" dirty="0" err="1"/>
              <a:t>py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Note there is a “global” keyword that you can use to reference the global variable</a:t>
            </a:r>
          </a:p>
          <a:p>
            <a:pPr lvl="1"/>
            <a:r>
              <a:rPr lang="en-US" dirty="0"/>
              <a:t>It is better just to keep variable names different instead of using same names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3891D-2091-09FA-6CF9-177BB4ED9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6150" y="1502241"/>
            <a:ext cx="5181598" cy="414337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count = 0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increment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count = 0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count += 1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"local count:"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count)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increment()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"global count:"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count)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incremented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(value):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value + 1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count = incremented(count)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"global count:"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count)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385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AE89-6B5E-60B6-8887-F260B46C5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4F2D5-9768-67F5-C8DB-EF566CF8B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33351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D75F-03FB-2E6A-E49F-2041B8856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4050A-D132-DA73-EB26-B91CD639A7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Modules are our python file</a:t>
            </a:r>
          </a:p>
          <a:p>
            <a:r>
              <a:rPr lang="en-US" dirty="0"/>
              <a:t>We typically use them to separate out functionality</a:t>
            </a:r>
          </a:p>
          <a:p>
            <a:r>
              <a:rPr lang="en-US" dirty="0"/>
              <a:t>Presentation does all our console I/O operations to the console</a:t>
            </a:r>
          </a:p>
          <a:p>
            <a:pPr lvl="1"/>
            <a:r>
              <a:rPr lang="en-US" dirty="0"/>
              <a:t>print() and input()</a:t>
            </a:r>
          </a:p>
          <a:p>
            <a:r>
              <a:rPr lang="en-US" dirty="0"/>
              <a:t>Data and Business logic is handling our data</a:t>
            </a:r>
          </a:p>
          <a:p>
            <a:pPr lvl="1"/>
            <a:r>
              <a:rPr lang="en-US" dirty="0"/>
              <a:t>Controls lists, dictionaries, file I/O</a:t>
            </a:r>
          </a:p>
          <a:p>
            <a:r>
              <a:rPr lang="en-US" dirty="0"/>
              <a:t>Models and Objects for now are our dictionaries/lists – but later we will create our own</a:t>
            </a:r>
          </a:p>
          <a:p>
            <a:r>
              <a:rPr lang="en-US" dirty="0"/>
              <a:t>Database we will explore later as well</a:t>
            </a:r>
          </a:p>
        </p:txBody>
      </p:sp>
      <p:pic>
        <p:nvPicPr>
          <p:cNvPr id="5" name="Content Placeholder 4" descr="Visual of the layers in software architecture.">
            <a:extLst>
              <a:ext uri="{FF2B5EF4-FFF2-40B4-BE49-F238E27FC236}">
                <a16:creationId xmlns:a16="http://schemas.microsoft.com/office/drawing/2014/main" id="{3C07B0D1-57C6-477C-53A7-9BBABDB11C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19822" y="1283011"/>
            <a:ext cx="2941959" cy="441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2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3FFD-A9BA-1C03-1664-B50C57D2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D774D-2005-E50D-3E07-BA4A6ECF4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458137"/>
          </a:xfrm>
        </p:spPr>
        <p:txBody>
          <a:bodyPr>
            <a:noAutofit/>
          </a:bodyPr>
          <a:lstStyle/>
          <a:p>
            <a:r>
              <a:rPr lang="en-US" sz="2000" dirty="0"/>
              <a:t>We simply need to create a new python file with functions to perform operations</a:t>
            </a:r>
          </a:p>
          <a:p>
            <a:r>
              <a:rPr lang="en-US" sz="2000" dirty="0"/>
              <a:t>Then import them into our UI files</a:t>
            </a:r>
          </a:p>
          <a:p>
            <a:pPr lvl="1"/>
            <a:r>
              <a:rPr lang="en-US" sz="2000" dirty="0"/>
              <a:t>Basic import</a:t>
            </a:r>
          </a:p>
          <a:p>
            <a:pPr lvl="1"/>
            <a:r>
              <a:rPr lang="en-US" sz="2000" dirty="0"/>
              <a:t>Import some or all functions avoiding the need of using module name</a:t>
            </a:r>
          </a:p>
          <a:p>
            <a:pPr lvl="2"/>
            <a:r>
              <a:rPr lang="en-US" sz="1800" dirty="0"/>
              <a:t>To import all use wildcard ‘ * ’</a:t>
            </a:r>
          </a:p>
          <a:p>
            <a:pPr lvl="3"/>
            <a:r>
              <a:rPr lang="en-US" sz="1600" dirty="0"/>
              <a:t>Can cause collision with local functions in module that is importing so be cautious</a:t>
            </a:r>
          </a:p>
          <a:p>
            <a:pPr lvl="2"/>
            <a:r>
              <a:rPr lang="en-US" sz="1800" dirty="0"/>
              <a:t>To import some list off functions separated by commas</a:t>
            </a:r>
          </a:p>
          <a:p>
            <a:pPr lvl="1"/>
            <a:r>
              <a:rPr lang="en-US" sz="2000" dirty="0"/>
              <a:t>Import a module but set up a different name to reference it</a:t>
            </a:r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7F8D1-0F4A-F472-BBAF-0B35B9565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6151" y="522520"/>
            <a:ext cx="5181598" cy="581295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database.py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users = []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save_user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(user):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users.append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(user)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find_user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(username):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for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u </a:t>
            </a:r>
            <a:r>
              <a:rPr lang="en-US" sz="1100" b="1" dirty="0">
                <a:solidFill>
                  <a:srgbClr val="FF8C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users: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u.get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"username"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== username: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u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None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000" b="1" dirty="0">
              <a:solidFill>
                <a:srgbClr val="0000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database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database.save_user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({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"username"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000" b="1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full_name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 Patel"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database.find_user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000" b="1" dirty="0">
              <a:solidFill>
                <a:srgbClr val="FF8C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000" b="1" dirty="0">
              <a:solidFill>
                <a:srgbClr val="FF8C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database </a:t>
            </a: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*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save_user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({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"username"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000" b="1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full_name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 Patel"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find_user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1000" b="1" dirty="0">
              <a:solidFill>
                <a:srgbClr val="FF8C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000" b="1" dirty="0">
              <a:solidFill>
                <a:srgbClr val="FF8C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000" b="1" dirty="0">
              <a:solidFill>
                <a:srgbClr val="FF8C00"/>
              </a:solidFill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database </a:t>
            </a: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save_user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save_user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({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"username"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000" b="1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full_name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 Patel"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database.find_user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 </a:t>
            </a:r>
            <a:r>
              <a:rPr lang="en-US" sz="10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didn’t import this function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database </a:t>
            </a:r>
            <a:r>
              <a:rPr lang="en-US" sz="10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db.save_user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({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"username"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000" b="1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full_name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 Patel"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db.find_user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"ana"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281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3B1A-452D-9906-792A-AFCD9EFB7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main() in these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00D25-E409-9177-9D51-1E38A89476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There can be times that you set up some code within these modules that you create, because they could be ran on their own, without importing</a:t>
            </a:r>
          </a:p>
          <a:p>
            <a:r>
              <a:rPr lang="en-US" sz="2000" dirty="0"/>
              <a:t>If this is done be cautious as when you import a module into another, it interprets the code and “runs” whatever it can</a:t>
            </a:r>
          </a:p>
          <a:p>
            <a:r>
              <a:rPr lang="en-US" sz="2000" dirty="0"/>
              <a:t>So like we discussed last week and we have in the main.py, you should put code in a main() function, and use if statement to make sure the __name__ property is “__main__” for running.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2CB2C-95C3-2E7E-2259-3648F52E40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math_tools.py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square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(num):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num * num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cube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(num):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num * num * num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main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value =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"Enter a number: 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"Square:"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square(value))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"Cube:"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cube(value))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Only runs if this file is executed directly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__name__ == 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"__main__"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main()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91395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8F18-8C84-4A37-EAA7-81EC1FA2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 in Modules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ECF44D-22B0-2915-BFBD-0F6356C04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has a lot of built in modules</a:t>
            </a:r>
          </a:p>
          <a:p>
            <a:pPr lvl="1"/>
            <a:r>
              <a:rPr lang="en-US" dirty="0"/>
              <a:t>Some are already installed, others may need to be installed on your system</a:t>
            </a:r>
          </a:p>
          <a:p>
            <a:pPr lvl="1"/>
            <a:r>
              <a:rPr lang="en-US" dirty="0"/>
              <a:t>To install them we use ‘pip’ as a package installer</a:t>
            </a:r>
          </a:p>
          <a:p>
            <a:pPr lvl="1"/>
            <a:r>
              <a:rPr lang="en-US" dirty="0"/>
              <a:t>These typically get installed through the terminal</a:t>
            </a:r>
          </a:p>
          <a:p>
            <a:r>
              <a:rPr lang="en-US" dirty="0"/>
              <a:t>We have everything split up into modules as it helps simplify our coding</a:t>
            </a:r>
          </a:p>
          <a:p>
            <a:r>
              <a:rPr lang="en-US" dirty="0"/>
              <a:t>If we were to have all these modules automatically imported then our final program size would be massive</a:t>
            </a:r>
          </a:p>
          <a:p>
            <a:r>
              <a:rPr lang="en-US" dirty="0"/>
              <a:t>So having modules lets you import only the ones you need</a:t>
            </a:r>
          </a:p>
          <a:p>
            <a:r>
              <a:rPr lang="en-US" dirty="0"/>
              <a:t>Each developer of languages do this choosing how their language is set up.</a:t>
            </a:r>
          </a:p>
          <a:p>
            <a:pPr lvl="1"/>
            <a:r>
              <a:rPr lang="en-US" dirty="0"/>
              <a:t>Java, C#, C++, etc.</a:t>
            </a:r>
          </a:p>
        </p:txBody>
      </p:sp>
    </p:spTree>
    <p:extLst>
      <p:ext uri="{BB962C8B-B14F-4D97-AF65-F5344CB8AC3E}">
        <p14:creationId xmlns:p14="http://schemas.microsoft.com/office/powerpoint/2010/main" val="3560831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78F0-C609-499B-C856-E8D8B6818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49A66-A12C-14AF-04D1-1D7C145E12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math module provides advanced math functions beyond the basic operators</a:t>
            </a:r>
          </a:p>
          <a:p>
            <a:r>
              <a:rPr lang="en-US" dirty="0"/>
              <a:t>It also gives us values for pi and e</a:t>
            </a:r>
          </a:p>
          <a:p>
            <a:r>
              <a:rPr lang="en-US" dirty="0"/>
              <a:t>Some functions include:</a:t>
            </a:r>
          </a:p>
          <a:p>
            <a:pPr lvl="1"/>
            <a:r>
              <a:rPr lang="en-US" dirty="0"/>
              <a:t>sqrt(x)</a:t>
            </a:r>
          </a:p>
          <a:p>
            <a:pPr lvl="1"/>
            <a:r>
              <a:rPr lang="en-US" dirty="0"/>
              <a:t>factorial(x)</a:t>
            </a:r>
          </a:p>
          <a:p>
            <a:pPr lvl="1"/>
            <a:r>
              <a:rPr lang="en-US" dirty="0" err="1"/>
              <a:t>gcd</a:t>
            </a:r>
            <a:r>
              <a:rPr lang="en-US" dirty="0"/>
              <a:t>(a, b)</a:t>
            </a:r>
          </a:p>
          <a:p>
            <a:pPr lvl="1"/>
            <a:r>
              <a:rPr lang="en-US" dirty="0" err="1"/>
              <a:t>isclose</a:t>
            </a:r>
            <a:r>
              <a:rPr lang="en-US" dirty="0"/>
              <a:t>(a, b, offset)</a:t>
            </a:r>
          </a:p>
          <a:p>
            <a:pPr lvl="1"/>
            <a:r>
              <a:rPr lang="en-US" dirty="0" err="1"/>
              <a:t>hypot</a:t>
            </a:r>
            <a:r>
              <a:rPr lang="en-US" dirty="0"/>
              <a:t>(a, b)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39695-FE6C-C887-5D03-F9E8A0125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2296" y="2217593"/>
            <a:ext cx="5181598" cy="4143375"/>
          </a:xfrm>
        </p:spPr>
        <p:txBody>
          <a:bodyPr>
            <a:norm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math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math.sqrt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(49))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math.factorial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(5))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math.gcd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(36, 60))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math.isclose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(0.1+0.2, 0.3))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math.hypot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(3, 4))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24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F871-42B5-4A94-641A-B7E606DF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D1E9-7BEC-A4D3-43C3-90ADBEC565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random module provides functions for generating random numbers and selections</a:t>
            </a:r>
          </a:p>
          <a:p>
            <a:pPr lvl="1"/>
            <a:r>
              <a:rPr lang="en-US" sz="2000" dirty="0"/>
              <a:t>random()</a:t>
            </a:r>
          </a:p>
          <a:p>
            <a:pPr lvl="1"/>
            <a:r>
              <a:rPr lang="en-US" sz="2000" dirty="0"/>
              <a:t>uniform(a, b)</a:t>
            </a:r>
          </a:p>
          <a:p>
            <a:pPr lvl="1"/>
            <a:r>
              <a:rPr lang="en-US" sz="2000" dirty="0" err="1"/>
              <a:t>randrange</a:t>
            </a:r>
            <a:r>
              <a:rPr lang="en-US" sz="2000" dirty="0"/>
              <a:t>(a, b)</a:t>
            </a:r>
          </a:p>
          <a:p>
            <a:pPr lvl="1"/>
            <a:r>
              <a:rPr lang="en-US" sz="2000" dirty="0" err="1"/>
              <a:t>randint</a:t>
            </a:r>
            <a:r>
              <a:rPr lang="en-US" sz="2000" dirty="0"/>
              <a:t>(a, b)</a:t>
            </a:r>
          </a:p>
          <a:p>
            <a:pPr lvl="1"/>
            <a:r>
              <a:rPr lang="en-US" sz="2000" dirty="0"/>
              <a:t>choice(sequence)</a:t>
            </a:r>
          </a:p>
          <a:p>
            <a:pPr lvl="1"/>
            <a:r>
              <a:rPr lang="en-US" sz="2000" dirty="0"/>
              <a:t>choices(sequence, weight, length)</a:t>
            </a:r>
          </a:p>
          <a:p>
            <a:pPr lvl="1"/>
            <a:r>
              <a:rPr lang="en-US" sz="2000" dirty="0"/>
              <a:t>sample(sequence, length)</a:t>
            </a:r>
          </a:p>
          <a:p>
            <a:pPr lvl="1"/>
            <a:r>
              <a:rPr lang="en-US" sz="2000" dirty="0"/>
              <a:t>shuffle(sequence)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8A398-9134-D139-6F4A-02146B1B7F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random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random.seed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(42)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random.random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random.uniform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(10, 20))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random.randrange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(0, 10, 2))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random.randint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(1, 6))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items = [</a:t>
            </a:r>
            <a:r>
              <a:rPr lang="en-US" sz="2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"B"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]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random.choice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(items))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random.choices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(items, weights=[5, 1, 1, 1], k=4))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random.sample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(items, k=2))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[1, 2, 3, 4, 5]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random.shuffle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nums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935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D3B4C-4A80-4937-841D-BA9A699B5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</a:t>
            </a:r>
            <a:r>
              <a:rPr lang="en-US" dirty="0"/>
              <a:t>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70F4F-5BF8-78B4-6B79-B2FACF9A89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</a:t>
            </a:r>
            <a:r>
              <a:rPr lang="en-US" dirty="0" err="1"/>
              <a:t>os</a:t>
            </a:r>
            <a:r>
              <a:rPr lang="en-US" dirty="0"/>
              <a:t> module allows interaction with the operating system in a cross-platform way</a:t>
            </a:r>
          </a:p>
          <a:p>
            <a:pPr lvl="1"/>
            <a:r>
              <a:rPr lang="en-US" dirty="0"/>
              <a:t>os.name</a:t>
            </a:r>
          </a:p>
          <a:p>
            <a:pPr lvl="1"/>
            <a:r>
              <a:rPr lang="en-US" dirty="0" err="1"/>
              <a:t>getcwd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path.join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path.exists</a:t>
            </a:r>
            <a:r>
              <a:rPr lang="en-US" dirty="0"/>
              <a:t>(path)</a:t>
            </a:r>
          </a:p>
          <a:p>
            <a:pPr lvl="1"/>
            <a:r>
              <a:rPr lang="en-US" dirty="0" err="1"/>
              <a:t>path.isdir</a:t>
            </a:r>
            <a:r>
              <a:rPr lang="en-US" dirty="0"/>
              <a:t>(</a:t>
            </a:r>
            <a:r>
              <a:rPr lang="en-US" dirty="0" err="1"/>
              <a:t>dir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path.isfile</a:t>
            </a:r>
            <a:r>
              <a:rPr lang="en-US" dirty="0"/>
              <a:t>(path)</a:t>
            </a:r>
          </a:p>
          <a:p>
            <a:pPr lvl="1"/>
            <a:r>
              <a:rPr lang="en-US" dirty="0" err="1"/>
              <a:t>makedirs</a:t>
            </a:r>
            <a:r>
              <a:rPr lang="en-US" dirty="0"/>
              <a:t>(</a:t>
            </a:r>
            <a:r>
              <a:rPr lang="en-US" dirty="0" err="1"/>
              <a:t>dir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28FD4-0FF3-E67B-0590-63674F428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908962" cy="4143375"/>
          </a:xfrm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(os.name)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os.getcwd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path =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os.path.join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"data"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"users.csv"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(path)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os.path.exists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"data"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os.path.isdir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"data"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os.path.isfile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(path))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os.makedirs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os.path.join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"data"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"archive"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),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exist_ok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=True)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os.listdir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"data"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05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23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6909-C75E-F54B-98B5-6E3A2968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datetime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2FD31-AFE3-F755-1E59-A25DFF2E2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4266" y="1563659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The datetime module helps create, manipulate, and format dates and times</a:t>
            </a:r>
          </a:p>
          <a:p>
            <a:pPr lvl="1"/>
            <a:r>
              <a:rPr lang="en-US" dirty="0" err="1"/>
              <a:t>datetime.now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date.today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datetime(y, m, d, h, min, s)</a:t>
            </a:r>
          </a:p>
          <a:p>
            <a:pPr lvl="1"/>
            <a:r>
              <a:rPr lang="en-US" dirty="0"/>
              <a:t>date(y, m, d)</a:t>
            </a:r>
          </a:p>
          <a:p>
            <a:pPr lvl="1"/>
            <a:r>
              <a:rPr lang="en-US" dirty="0" err="1"/>
              <a:t>timedelta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strftime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strptime</a:t>
            </a:r>
            <a:r>
              <a:rPr lang="en-US" dirty="0"/>
              <a:t>()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62A7E-3A46-BBE3-55B7-1DC7BCEE7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81501" y="1563659"/>
            <a:ext cx="6172200" cy="423039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datetime </a:t>
            </a:r>
            <a:r>
              <a:rPr lang="en-US" sz="14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dt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now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dt.datetime.now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today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dt.date.today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(now, today)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meeting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dt.datetime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(2025, 9, 12, 10, 30)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deadline = meeting +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dt.timedelta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(days=3, hours=2)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(deadline)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now.strftime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"%Y-%m-%d %H:%M"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now.strftime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"%b %d, %Y (%a)"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stamp = 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"2025-09-10 14:07"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parsed =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dt.datetime.strptime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(stamp, </a:t>
            </a:r>
            <a:r>
              <a:rPr lang="en-US" sz="14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"%Y-%m-%d %H:%M"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(parsed)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1183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8229-DE86-889A-AEDC-798430A8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13565-477A-5C9E-00B3-B6D2C545E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014635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BF41-C79F-9920-0D71-FA5446738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for Organizing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920DD-D56C-04DA-D53D-739971A6C7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Another element to better organize code are packages.</a:t>
            </a:r>
          </a:p>
          <a:p>
            <a:pPr lvl="1"/>
            <a:r>
              <a:rPr lang="en-US" dirty="0"/>
              <a:t>Folders that contain an __init__.py file – more on this in a second</a:t>
            </a:r>
          </a:p>
          <a:p>
            <a:r>
              <a:rPr lang="en-US" dirty="0"/>
              <a:t>These will help better organize files especially those that are similar in nature instead of having the IDE organize via names, you just look to the package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95CD1-2F17-0D00-D3CF-4673429197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project/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├── main.py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├── database/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│   ├── __init__.py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│   └── data_ops.py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└── helpers/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├── __init__.py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└── validation.py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View of a python project in PyCharm with packages and files.">
            <a:extLst>
              <a:ext uri="{FF2B5EF4-FFF2-40B4-BE49-F238E27FC236}">
                <a16:creationId xmlns:a16="http://schemas.microsoft.com/office/drawing/2014/main" id="{C464234F-4CB7-8B71-D536-451931069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728" y="1552575"/>
            <a:ext cx="2634192" cy="277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6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51C4-61B7-88EB-1924-EE140529D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FA91D-2812-95F5-42C7-BDFA8569BA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To import modules from packages you have to just include the name of the package, a dot, then the module name.</a:t>
            </a:r>
          </a:p>
          <a:p>
            <a:r>
              <a:rPr lang="en-US" sz="2000" dirty="0"/>
              <a:t>The __init__.py file helps the IDE denote a package for a folder</a:t>
            </a:r>
          </a:p>
          <a:p>
            <a:r>
              <a:rPr lang="en-US" sz="2000" dirty="0"/>
              <a:t>This file is often used to setup code, such as initializing configuration data, importing submodules or defining what symbols should be available from the package</a:t>
            </a:r>
          </a:p>
          <a:p>
            <a:r>
              <a:rPr lang="en-US" sz="2000" dirty="0"/>
              <a:t>We won’t really dive into that here but rather just focus on keeping our code organized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3A0D5-D275-1577-8AFF-D35F0EDD1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2494" y="1667721"/>
            <a:ext cx="5362785" cy="4143375"/>
          </a:xfrm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database.data_ops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save_record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helpers.validation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validate_input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main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	data = 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“Enter name: “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	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validate_input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(data):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		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save_record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(data)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	</a:t>
            </a:r>
            <a:r>
              <a:rPr lang="en-US" sz="1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else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		</a:t>
            </a:r>
            <a:r>
              <a:rPr lang="en-US" sz="1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“Invalid input.”</a:t>
            </a:r>
            <a:r>
              <a:rPr lang="en-US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5516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093F-3518-5D66-755D-08EC5957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Coding Example – Functions, Modules, and Packages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A9F461-2BAE-F8BF-3901-5ABD52947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data module</a:t>
            </a:r>
          </a:p>
          <a:p>
            <a:r>
              <a:rPr lang="en-US" dirty="0"/>
              <a:t>Use the datetime module for dates</a:t>
            </a:r>
          </a:p>
          <a:p>
            <a:r>
              <a:rPr lang="en-US" dirty="0"/>
              <a:t>Use the random module for account numbers</a:t>
            </a:r>
          </a:p>
        </p:txBody>
      </p:sp>
    </p:spTree>
    <p:extLst>
      <p:ext uri="{BB962C8B-B14F-4D97-AF65-F5344CB8AC3E}">
        <p14:creationId xmlns:p14="http://schemas.microsoft.com/office/powerpoint/2010/main" val="1614602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A1AA-26A8-4CE8-60BB-385F8AF7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1A292-7FD3-FA0A-9832-B10BEA3DA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1945976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5B5A-F112-9AE8-C307-9588BA860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ABB22-0E07-F099-D993-160E24364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4637" y="1547897"/>
            <a:ext cx="4843272" cy="460906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Exceptions let you handle errors gracefully</a:t>
            </a:r>
          </a:p>
          <a:p>
            <a:pPr lvl="1"/>
            <a:r>
              <a:rPr lang="en-US" dirty="0"/>
              <a:t>Meaning our program won’t just crash on us</a:t>
            </a:r>
          </a:p>
          <a:p>
            <a:pPr lvl="1"/>
            <a:r>
              <a:rPr lang="en-US" dirty="0"/>
              <a:t>Components of exceptions include try, except, else and finally</a:t>
            </a:r>
          </a:p>
          <a:p>
            <a:r>
              <a:rPr lang="en-US" dirty="0"/>
              <a:t>Our main code is using “try” to attempt to run code and “except” to catch the exception</a:t>
            </a:r>
          </a:p>
          <a:p>
            <a:r>
              <a:rPr lang="en-US" dirty="0"/>
              <a:t>‘else’ block executes only if no exception is raised</a:t>
            </a:r>
          </a:p>
          <a:p>
            <a:r>
              <a:rPr lang="en-US" dirty="0"/>
              <a:t>‘finally’ block executes regardless of an exception occurs or not</a:t>
            </a:r>
          </a:p>
          <a:p>
            <a:pPr lvl="1"/>
            <a:r>
              <a:rPr lang="en-US" dirty="0"/>
              <a:t>good to handle cleanup</a:t>
            </a:r>
          </a:p>
          <a:p>
            <a:r>
              <a:rPr lang="en-US" dirty="0"/>
              <a:t>Since Python is interpreted languages, some errors can be caused due to our coding</a:t>
            </a:r>
          </a:p>
          <a:p>
            <a:pPr lvl="1"/>
            <a:r>
              <a:rPr lang="en-US" dirty="0"/>
              <a:t>For example a </a:t>
            </a:r>
            <a:r>
              <a:rPr lang="en-US" dirty="0" err="1"/>
              <a:t>NameError</a:t>
            </a:r>
            <a:r>
              <a:rPr lang="en-US" dirty="0"/>
              <a:t> occurs when we don’t use the correct variable name and we don’t see the error until we get to that line up code</a:t>
            </a:r>
          </a:p>
          <a:p>
            <a:pPr lvl="1"/>
            <a:r>
              <a:rPr lang="en-US" dirty="0"/>
              <a:t>We are more talking about no syntax error codes, but user errors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B4703-2BC1-FE06-BD95-DB6DEA619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1913" y="1547898"/>
            <a:ext cx="6151418" cy="4143375"/>
          </a:xfrm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value =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"Number: 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"Not a valid integer."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Exception </a:t>
            </a:r>
            <a:r>
              <a:rPr lang="en-US" sz="15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e: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C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e is a variable we can access the exception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"Unexpected error:"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e)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else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"Success"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"Cleanup always runs"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17741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EEDB-76F4-2A01-F27B-E1DEFA2A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7B6F8-EE17-9444-1404-A76ADF95E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coding our applications we want to handle any and all exceptions that could occur</a:t>
            </a:r>
          </a:p>
          <a:p>
            <a:r>
              <a:rPr lang="en-US" dirty="0"/>
              <a:t>We won’t always need exceptions as an if/else might do the same</a:t>
            </a:r>
          </a:p>
          <a:p>
            <a:r>
              <a:rPr lang="en-US" dirty="0"/>
              <a:t>But other times we need to use try/except blocks</a:t>
            </a:r>
          </a:p>
          <a:p>
            <a:r>
              <a:rPr lang="en-US" dirty="0"/>
              <a:t>Typical things we want to watch out for exceptions</a:t>
            </a:r>
          </a:p>
          <a:p>
            <a:pPr lvl="1"/>
            <a:r>
              <a:rPr lang="en-US" dirty="0"/>
              <a:t>User input/data processing – casting variables, math operations, zero division</a:t>
            </a:r>
          </a:p>
          <a:p>
            <a:pPr lvl="1"/>
            <a:r>
              <a:rPr lang="en-US" dirty="0"/>
              <a:t>Accessing Collections – index out of bounds, key errors with dictionaries</a:t>
            </a:r>
          </a:p>
          <a:p>
            <a:pPr lvl="1"/>
            <a:r>
              <a:rPr lang="en-US" dirty="0"/>
              <a:t>File I/O – opening, reading and writing to files</a:t>
            </a:r>
          </a:p>
          <a:p>
            <a:pPr lvl="1"/>
            <a:r>
              <a:rPr lang="en-US" dirty="0"/>
              <a:t>External libraries – libraries my throw their own exceptions that we want to catch</a:t>
            </a:r>
          </a:p>
          <a:p>
            <a:r>
              <a:rPr lang="en-US" dirty="0"/>
              <a:t>Common Exceptions</a:t>
            </a:r>
          </a:p>
          <a:p>
            <a:pPr lvl="1"/>
            <a:r>
              <a:rPr lang="en-US" dirty="0"/>
              <a:t>Exception – base exception for all</a:t>
            </a:r>
          </a:p>
          <a:p>
            <a:pPr lvl="1"/>
            <a:r>
              <a:rPr lang="en-US" dirty="0" err="1"/>
              <a:t>ValueError</a:t>
            </a:r>
            <a:r>
              <a:rPr lang="en-US" dirty="0"/>
              <a:t> – raise when there is a wrong value for data – like casting</a:t>
            </a:r>
          </a:p>
          <a:p>
            <a:pPr lvl="1"/>
            <a:r>
              <a:rPr lang="en-US" dirty="0" err="1"/>
              <a:t>ZeroDivisionError</a:t>
            </a:r>
            <a:r>
              <a:rPr lang="en-US" dirty="0"/>
              <a:t> – can’t divide a number by zero</a:t>
            </a:r>
          </a:p>
          <a:p>
            <a:pPr lvl="1"/>
            <a:r>
              <a:rPr lang="en-US" dirty="0" err="1"/>
              <a:t>IndexError</a:t>
            </a:r>
            <a:r>
              <a:rPr lang="en-US" dirty="0"/>
              <a:t> – raised when index in a sequence doesn’t exist</a:t>
            </a:r>
          </a:p>
          <a:p>
            <a:pPr lvl="1"/>
            <a:r>
              <a:rPr lang="en-US" dirty="0" err="1"/>
              <a:t>KeyError</a:t>
            </a:r>
            <a:r>
              <a:rPr lang="en-US" dirty="0"/>
              <a:t> – raised when a key doesn’t not exist in a dictionary</a:t>
            </a:r>
          </a:p>
        </p:txBody>
      </p:sp>
    </p:spTree>
    <p:extLst>
      <p:ext uri="{BB962C8B-B14F-4D97-AF65-F5344CB8AC3E}">
        <p14:creationId xmlns:p14="http://schemas.microsoft.com/office/powerpoint/2010/main" val="769753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685D-452C-2463-A81F-37A03F47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code to ‘try’ with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1E5AA-C702-7640-CF19-E0FCC24527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value1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"Number: 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"Not a valid integer."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value2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"Number: 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"Not a valid integer."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C8CFF-16AC-BE98-1B03-2B3234FC5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552574"/>
            <a:ext cx="5181598" cy="4143375"/>
          </a:xfrm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value1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"Number: 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value2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"Number: 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"Not valid integers."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4407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87EB-1306-C5CE-E4E3-95948793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programs around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97F66-C27C-2205-E48D-BE5EFF0B3E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programs user friendly is also important</a:t>
            </a:r>
          </a:p>
          <a:p>
            <a:r>
              <a:rPr lang="en-US" dirty="0"/>
              <a:t>Right now we are handling exceptions BUT they still just end or continue after the try/except when error occurs or not</a:t>
            </a:r>
          </a:p>
          <a:p>
            <a:r>
              <a:rPr lang="en-US" dirty="0"/>
              <a:t>We can use loops to continue asking for input, and even better, put that into a function to use throughout our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FB4FD-9CC0-1586-B746-2B869500FE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(prompt):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while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try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value =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(prompt))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value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except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"Not valid integers."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74087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9C3C-5F99-980B-544F-6829E954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resource using ‘with’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0C8BF-89A7-7EA8-FC69-C411691949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with statement provides a convenient way to manage resources, ensuring setup and teardown are done automatically</a:t>
            </a:r>
          </a:p>
          <a:p>
            <a:r>
              <a:rPr lang="en-US" dirty="0"/>
              <a:t>Like opening/closing a file</a:t>
            </a:r>
          </a:p>
          <a:p>
            <a:r>
              <a:rPr lang="en-US" dirty="0"/>
              <a:t>Don’t need an else/finally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226E4-ADC8-084B-A26E-DD1144AEE1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with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open(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"data.txt"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"r"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content =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f.readlines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FileNotFoundError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"data.txt missing."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545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245AB-0979-3E31-D477-0C3C0AA7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and Exceptions to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1806D-AAF2-9070-4F56-8823A9855F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further better our code by making modules to do all our exception handling</a:t>
            </a:r>
          </a:p>
          <a:p>
            <a:r>
              <a:rPr lang="en-US" dirty="0"/>
              <a:t>Modules help us keep all these group together to have in one spot.</a:t>
            </a:r>
          </a:p>
          <a:p>
            <a:r>
              <a:rPr lang="en-US" dirty="0"/>
              <a:t>This would be a separate module to use in our console UI, then when we are ready to swap to more GUI based.</a:t>
            </a:r>
          </a:p>
          <a:p>
            <a:r>
              <a:rPr lang="en-US" dirty="0"/>
              <a:t>We are calling same functions with little modification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0D2DD-688B-A17C-8D81-4E8F4A33F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52575"/>
            <a:ext cx="5911425" cy="4143375"/>
          </a:xfrm>
        </p:spPr>
        <p:txBody>
          <a:bodyPr>
            <a:normAutofit/>
          </a:bodyPr>
          <a:lstStyle/>
          <a:p>
            <a:r>
              <a:rPr lang="en-US" sz="1600" dirty="0"/>
              <a:t>input_tools.py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get_int_in_range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(prompt, low, high):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while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FF8C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n =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(prompt))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not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(low &lt;= n &lt;= high):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raise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1100" b="1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"Enter</a:t>
            </a:r>
            <a:r>
              <a:rPr lang="en-US" sz="11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between {lo} and {hi}."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ValueError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e: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"Invalid:"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e)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1100" dirty="0"/>
          </a:p>
          <a:p>
            <a:r>
              <a:rPr lang="en-US" sz="1600" dirty="0"/>
              <a:t>main.py</a:t>
            </a:r>
          </a:p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import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input_tools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FF8C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it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age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it.get_int_in_range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"Age (1-120): 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1, 120)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"Age recorded:"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age)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683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0D57-BD03-9A70-1328-DAEACE4E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04D9-EDF2-3907-2EAB-07DAD7993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in some exception handling with separate modules</a:t>
            </a:r>
          </a:p>
          <a:p>
            <a:pPr lvl="1"/>
            <a:r>
              <a:rPr lang="en-US" dirty="0"/>
              <a:t>Numbers – int and float</a:t>
            </a:r>
          </a:p>
        </p:txBody>
      </p:sp>
    </p:spTree>
    <p:extLst>
      <p:ext uri="{BB962C8B-B14F-4D97-AF65-F5344CB8AC3E}">
        <p14:creationId xmlns:p14="http://schemas.microsoft.com/office/powerpoint/2010/main" val="3775476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341166D007A44F96DAB297EB9286AE" ma:contentTypeVersion="1" ma:contentTypeDescription="Create a new document." ma:contentTypeScope="" ma:versionID="b480b76c1a13d0cb60d9fa02ce9cfa12">
  <xsd:schema xmlns:xsd="http://www.w3.org/2001/XMLSchema" xmlns:xs="http://www.w3.org/2001/XMLSchema" xmlns:p="http://schemas.microsoft.com/office/2006/metadata/properties" xmlns:ns1="http://schemas.microsoft.com/sharepoint/v3" xmlns:ns2="4408313d-b437-4f49-9134-0613b1cf82e0" targetNamespace="http://schemas.microsoft.com/office/2006/metadata/properties" ma:root="true" ma:fieldsID="7e1a49c581aee02705c497c71c6a3062" ns1:_="" ns2:_="">
    <xsd:import namespace="http://schemas.microsoft.com/sharepoint/v3"/>
    <xsd:import namespace="4408313d-b437-4f49-9134-0613b1cf82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8313d-b437-4f49-9134-0613b1cf82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4408313d-b437-4f49-9134-0613b1cf82e0">5K6DURXD36E5-1034-11</_dlc_DocId>
    <_dlc_DocIdUrl xmlns="4408313d-b437-4f49-9134-0613b1cf82e0">
      <Url>https://myway.mccneb.edu/employees/Departments/marketing/_layouts/15/DocIdRedir.aspx?ID=5K6DURXD36E5-1034-11</Url>
      <Description>5K6DURXD36E5-1034-11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A61AA4B-2C2A-4993-9592-F7FC50101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408313d-b437-4f49-9134-0613b1cf8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BA48C2-912C-4BF9-9AD3-31CDA2E37A00}">
  <ds:schemaRefs>
    <ds:schemaRef ds:uri="4408313d-b437-4f49-9134-0613b1cf82e0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AA46240-6986-4B9C-B1FF-32FBEE40E05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64BA4CB-1A05-46BE-B2E1-F56C6161E1AA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3878</Words>
  <Application>Microsoft Office PowerPoint</Application>
  <PresentationFormat>Widescreen</PresentationFormat>
  <Paragraphs>457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Adobe Garamond Pro</vt:lpstr>
      <vt:lpstr>Arial</vt:lpstr>
      <vt:lpstr>Calibri</vt:lpstr>
      <vt:lpstr>Cambria</vt:lpstr>
      <vt:lpstr>Consolas</vt:lpstr>
      <vt:lpstr>Courier New</vt:lpstr>
      <vt:lpstr>Intro Bold</vt:lpstr>
      <vt:lpstr>Intro Light</vt:lpstr>
      <vt:lpstr>Wingdings</vt:lpstr>
      <vt:lpstr>Office Theme</vt:lpstr>
      <vt:lpstr>Functions, Modules and Exception Handling</vt:lpstr>
      <vt:lpstr>Functions</vt:lpstr>
      <vt:lpstr>Parameters and Arguments</vt:lpstr>
      <vt:lpstr>Returning Functions</vt:lpstr>
      <vt:lpstr>Defining Variable Types</vt:lpstr>
      <vt:lpstr>Variables in Functions - Scope</vt:lpstr>
      <vt:lpstr>Modules</vt:lpstr>
      <vt:lpstr>Software Architecture</vt:lpstr>
      <vt:lpstr>Custom Modules</vt:lpstr>
      <vt:lpstr>main() in these modules</vt:lpstr>
      <vt:lpstr>Built in Modules </vt:lpstr>
      <vt:lpstr>math module</vt:lpstr>
      <vt:lpstr>random module</vt:lpstr>
      <vt:lpstr>os module</vt:lpstr>
      <vt:lpstr>datetime module</vt:lpstr>
      <vt:lpstr>Packages</vt:lpstr>
      <vt:lpstr>Packages for Organizing</vt:lpstr>
      <vt:lpstr>Coding with Packages</vt:lpstr>
      <vt:lpstr>Coding Example – Functions, Modules, and Packages</vt:lpstr>
      <vt:lpstr>Exceptions</vt:lpstr>
      <vt:lpstr>Exception Handling</vt:lpstr>
      <vt:lpstr>Common Exceptions</vt:lpstr>
      <vt:lpstr>What code to ‘try’ with exceptions</vt:lpstr>
      <vt:lpstr>Looping programs around exceptions</vt:lpstr>
      <vt:lpstr>Manage resource using ‘with’</vt:lpstr>
      <vt:lpstr>Modules and Exceptions to help</vt:lpstr>
      <vt:lpstr>Coding Example – Exception Handling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Hartman, Lucas</dc:creator>
  <cp:lastModifiedBy>Hartman, Lucas</cp:lastModifiedBy>
  <cp:revision>26</cp:revision>
  <dcterms:created xsi:type="dcterms:W3CDTF">2022-06-09T19:09:31Z</dcterms:created>
  <dcterms:modified xsi:type="dcterms:W3CDTF">2026-04-16T19:41:30Z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0x0101006B341166D007A44F96DAB297EB9286AE</vt:lpwstr>
  </property>
  <property fmtid="{D5CDD505-2E9C-101B-9397-08002B2CF9AE}" pid="3" name="_dlc_DocIdItemGuid">
    <vt:lpwstr>b616e4c7-a5d0-45d1-a2b2-69c0143a48ff</vt:lpwstr>
  </property>
</Properties>
</file>